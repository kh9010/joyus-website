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Default xmlns="" Extension="fntdata" ContentType="application/x-fontdata"/>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embedTrueTypeFonts="1">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embeddedFontLst>
    <p:embeddedFont>
      <p:font typeface="Inter"/>
      <p:regular r:id="rId1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 xmlns="" Id="rId16" Type="http://schemas.openxmlformats.org/officeDocument/2006/relationships/font" Target="fonts/rId16.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there is an existing way of solving the types of issues that could be solved with codewords.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Blackboxes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Blackboxes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09600" y="1576388"/>
            <a:ext cx="5715000" cy="1995487"/>
          </a:xfrm>
          <a:prstGeom prst="rect">
            <a:avLst/>
          </a:prstGeom>
          <a:noFill/>
          <a:ln/>
        </p:spPr>
      </p:sp>
      <p:sp>
        <p:nvSpPr>
          <p:cNvPr id="3" name="Text 1"/>
          <p:cNvSpPr/>
          <p:nvPr/>
        </p:nvSpPr>
        <p:spPr>
          <a:xfrm>
            <a:off x="609600" y="1576388"/>
            <a:ext cx="5715000" cy="1643063"/>
          </a:xfrm>
          <a:prstGeom prst="rect">
            <a:avLst/>
          </a:prstGeom>
          <a:noFill/>
          <a:ln/>
        </p:spPr>
        <p:txBody>
          <a:bodyPr wrap="square" lIns="0" tIns="0" rIns="0" bIns="0" rtlCol="0" anchor="t"/>
          <a:lstStyle/>
          <a:p>
            <a:pPr algn="l" indent="0" marL="0">
              <a:lnSpc>
                <a:spcPts val="4104"/>
              </a:lnSpc>
              <a:buNone/>
            </a:pPr>
            <a:r>
              <a:rPr lang="en-US" sz="3420" b="1" spc="-68" kern="0" dirty="0">
                <a:solidFill>
                  <a:srgbClr val="000000">
                    <a:alpha val="99000"/>
                  </a:srgbClr>
                </a:solidFill>
                <a:latin typeface="Inter" pitchFamily="34" charset="0"/>
                <a:ea typeface="Inter" pitchFamily="34" charset="-122"/>
                <a:cs typeface="Inter" pitchFamily="34" charset="-120"/>
              </a:rPr>
              <a:t>Codewords  </a:t>
            </a:r>
            <a:endParaRPr lang="en-US" sz="3420" dirty="0"/>
          </a:p>
          <a:p>
            <a:pPr algn="l" indent="0" marL="0">
              <a:lnSpc>
                <a:spcPts val="4104"/>
              </a:lnSpc>
              <a:buNone/>
            </a:pPr>
            <a:r>
              <a:rPr lang="en-US" sz="3420" b="1" spc="-68" kern="0" dirty="0">
                <a:solidFill>
                  <a:srgbClr val="000000">
                    <a:alpha val="99000"/>
                  </a:srgbClr>
                </a:solidFill>
                <a:latin typeface="Inter" pitchFamily="34" charset="0"/>
                <a:ea typeface="Inter" pitchFamily="34" charset="-122"/>
                <a:cs typeface="Inter" pitchFamily="34" charset="-120"/>
              </a:rPr>
              <a:t>Product Design Hypotheses</a:t>
            </a:r>
            <a:endParaRPr lang="en-US" sz="3420" dirty="0"/>
          </a:p>
        </p:txBody>
      </p:sp>
      <p:sp>
        <p:nvSpPr>
          <p:cNvPr id="4" name="Text 2"/>
          <p:cNvSpPr/>
          <p:nvPr/>
        </p:nvSpPr>
        <p:spPr>
          <a:xfrm>
            <a:off x="609600" y="3333750"/>
            <a:ext cx="5715000" cy="238125"/>
          </a:xfrm>
          <a:prstGeom prst="rect">
            <a:avLst/>
          </a:prstGeom>
          <a:noFill/>
          <a:ln/>
        </p:spPr>
        <p:txBody>
          <a:bodyPr wrap="square" lIns="0" tIns="0" rIns="0" bIns="0" rtlCol="0" anchor="t"/>
          <a:lstStyle/>
          <a:p>
            <a:pPr algn="l" indent="0" marL="0">
              <a:lnSpc>
                <a:spcPts val="1795"/>
              </a:lnSpc>
              <a:buNone/>
            </a:pPr>
            <a:r>
              <a:rPr lang="en-US" sz="1283" spc="-13" kern="0" dirty="0">
                <a:solidFill>
                  <a:srgbClr val="000000">
                    <a:alpha val="99000"/>
                  </a:srgbClr>
                </a:solidFill>
                <a:latin typeface="Inter" pitchFamily="34" charset="0"/>
                <a:ea typeface="Inter" pitchFamily="34" charset="-122"/>
                <a:cs typeface="Inter" pitchFamily="34" charset="-120"/>
              </a:rPr>
              <a:t>Agemo x Joyus</a:t>
            </a:r>
            <a:endParaRPr lang="en-US" sz="1283"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833438" y="2533650"/>
            <a:ext cx="3157538" cy="781050"/>
          </a:xfrm>
          <a:prstGeom prst="rect">
            <a:avLst/>
          </a:prstGeom>
          <a:noFill/>
          <a:ln/>
        </p:spPr>
        <p:txBody>
          <a:bodyPr wrap="square" lIns="0" tIns="0" rIns="0" bIns="0" rtlCol="0" anchor="b"/>
          <a:lstStyle/>
          <a:p>
            <a:pPr algn="l" indent="0" marL="0">
              <a:lnSpc>
                <a:spcPts val="1453"/>
              </a:lnSpc>
              <a:buNone/>
            </a:pPr>
            <a:r>
              <a:rPr lang="en-US" sz="1069" spc="-11" kern="0" dirty="0">
                <a:solidFill>
                  <a:srgbClr val="000000">
                    <a:alpha val="99000"/>
                  </a:srgbClr>
                </a:solidFill>
                <a:latin typeface="Inter" pitchFamily="34" charset="0"/>
                <a:ea typeface="Inter" pitchFamily="34" charset="-122"/>
                <a:cs typeface="Inter" pitchFamily="34" charset="-120"/>
              </a:rPr>
              <a:t>There are a variety of existing tools that are one google search away, and users are already using those. We are creating behavior change from an existing pattern for our users. </a:t>
            </a:r>
            <a:endParaRPr lang="en-US" sz="1069" dirty="0"/>
          </a:p>
        </p:txBody>
      </p:sp>
      <p:sp>
        <p:nvSpPr>
          <p:cNvPr id="4" name="Text 1"/>
          <p:cNvSpPr/>
          <p:nvPr/>
        </p:nvSpPr>
        <p:spPr>
          <a:xfrm>
            <a:off x="833438" y="3500438"/>
            <a:ext cx="3881438" cy="1371600"/>
          </a:xfrm>
          <a:prstGeom prst="rect">
            <a:avLst/>
          </a:prstGeom>
          <a:noFill/>
          <a:ln/>
        </p:spPr>
        <p:txBody>
          <a:bodyPr wrap="square" lIns="0" tIns="0" rIns="0" bIns="0" rtlCol="0" anchor="b"/>
          <a:lstStyle/>
          <a:p>
            <a:pPr algn="l" indent="0" marL="0">
              <a:lnSpc>
                <a:spcPts val="1146"/>
              </a:lnSpc>
              <a:buNone/>
            </a:pPr>
            <a:r>
              <a:rPr lang="en-US" sz="855" b="1" spc="-4" kern="0" dirty="0">
                <a:solidFill>
                  <a:srgbClr val="000000">
                    <a:alpha val="99000"/>
                  </a:srgbClr>
                </a:solidFill>
                <a:latin typeface="Inter" pitchFamily="34" charset="0"/>
                <a:ea typeface="Inter" pitchFamily="34" charset="-122"/>
                <a:cs typeface="Inter" pitchFamily="34" charset="-120"/>
              </a:rPr>
              <a:t>How to test : </a:t>
            </a:r>
            <a:endParaRPr lang="en-US" sz="855" dirty="0"/>
          </a:p>
          <a:p>
            <a:pPr algn="l" marL="342900" indent="-342900">
              <a:lnSpc>
                <a:spcPts val="1146"/>
              </a:lnSpc>
              <a:buSzPct val="100000"/>
              <a:buChar char="•"/>
            </a:pPr>
            <a:r>
              <a:rPr lang="en-US" sz="855" b="1" spc="-4" kern="0" dirty="0">
                <a:solidFill>
                  <a:srgbClr val="000000">
                    <a:alpha val="99000"/>
                  </a:srgbClr>
                </a:solidFill>
                <a:latin typeface="Inter" pitchFamily="34" charset="0"/>
                <a:ea typeface="Inter" pitchFamily="34" charset="-122"/>
                <a:cs typeface="Inter" pitchFamily="34" charset="-120"/>
              </a:rPr>
              <a:t>If users are abandoning to check google part way (e.g., longer than expected times to completion/ post build abandonment)</a:t>
            </a:r>
            <a:endParaRPr lang="en-US" sz="855" dirty="0"/>
          </a:p>
          <a:p>
            <a:pPr algn="l" marL="342900" indent="-342900">
              <a:lnSpc>
                <a:spcPts val="1146"/>
              </a:lnSpc>
              <a:buSzPct val="100000"/>
              <a:buChar char="•"/>
            </a:pPr>
            <a:r>
              <a:rPr lang="en-US" sz="855" b="1" spc="-4" kern="0" dirty="0">
                <a:solidFill>
                  <a:srgbClr val="000000">
                    <a:alpha val="99000"/>
                  </a:srgbClr>
                </a:solidFill>
                <a:latin typeface="Inter" pitchFamily="34" charset="0"/>
                <a:ea typeface="Inter" pitchFamily="34" charset="-122"/>
                <a:cs typeface="Inter" pitchFamily="34" charset="-120"/>
              </a:rPr>
              <a:t>Tracking cross function usage, are users who are coming in for one function branching into others? </a:t>
            </a:r>
            <a:endParaRPr lang="en-US" sz="855" dirty="0"/>
          </a:p>
          <a:p>
            <a:pPr algn="l" lvl="1" marL="685800" indent="-342900">
              <a:lnSpc>
                <a:spcPts val="1146"/>
              </a:lnSpc>
              <a:buSzPct val="100000"/>
              <a:buChar char="•"/>
            </a:pPr>
            <a:r>
              <a:rPr lang="en-US" sz="855" b="1" spc="-4" kern="0" dirty="0">
                <a:solidFill>
                  <a:srgbClr val="000000">
                    <a:alpha val="99000"/>
                  </a:srgbClr>
                </a:solidFill>
                <a:latin typeface="Inter" pitchFamily="34" charset="0"/>
                <a:ea typeface="Inter" pitchFamily="34" charset="-122"/>
                <a:cs typeface="Inter" pitchFamily="34" charset="-120"/>
              </a:rPr>
              <a:t>If without completing initial task may be indicative of low intent but higher curiosity </a:t>
            </a:r>
            <a:endParaRPr lang="en-US" sz="855" dirty="0"/>
          </a:p>
          <a:p>
            <a:pPr algn="l" lvl="1" marL="685800" indent="-342900">
              <a:lnSpc>
                <a:spcPts val="1146"/>
              </a:lnSpc>
              <a:buSzPct val="100000"/>
              <a:buChar char="•"/>
            </a:pPr>
            <a:r>
              <a:rPr lang="en-US" sz="855" b="1" spc="-4" kern="0" dirty="0">
                <a:solidFill>
                  <a:srgbClr val="000000">
                    <a:alpha val="99000"/>
                  </a:srgbClr>
                </a:solidFill>
                <a:latin typeface="Inter" pitchFamily="34" charset="0"/>
                <a:ea typeface="Inter" pitchFamily="34" charset="-122"/>
                <a:cs typeface="Inter" pitchFamily="34" charset="-120"/>
              </a:rPr>
              <a:t>If post completion then behaviour change is happening</a:t>
            </a:r>
            <a:endParaRPr lang="en-US" sz="855" dirty="0"/>
          </a:p>
          <a:p>
            <a:pPr algn="l" lvl="1" marL="685800" indent="-342900">
              <a:lnSpc>
                <a:spcPts val="1146"/>
              </a:lnSpc>
              <a:buSzPct val="100000"/>
              <a:buChar char="•"/>
            </a:pPr>
            <a:r>
              <a:rPr lang="en-US" sz="855" b="1" spc="-4" kern="0" dirty="0">
                <a:solidFill>
                  <a:srgbClr val="000000">
                    <a:alpha val="99000"/>
                  </a:srgbClr>
                </a:solidFill>
                <a:latin typeface="Inter" pitchFamily="34" charset="0"/>
                <a:ea typeface="Inter" pitchFamily="34" charset="-122"/>
                <a:cs typeface="Inter" pitchFamily="34" charset="-120"/>
              </a:rPr>
              <a:t>If no cross usage then the 30 Day retention will be very low</a:t>
            </a:r>
            <a:endParaRPr lang="en-US" sz="855" dirty="0"/>
          </a:p>
        </p:txBody>
      </p:sp>
      <p:sp>
        <p:nvSpPr>
          <p:cNvPr id="5" name="Shape 2"/>
          <p:cNvSpPr/>
          <p:nvPr/>
        </p:nvSpPr>
        <p:spPr>
          <a:xfrm>
            <a:off x="609600" y="438150"/>
            <a:ext cx="3381375" cy="228600"/>
          </a:xfrm>
          <a:prstGeom prst="rect">
            <a:avLst/>
          </a:prstGeom>
          <a:noFill/>
          <a:ln/>
        </p:spPr>
      </p:sp>
      <p:sp>
        <p:nvSpPr>
          <p:cNvPr id="6" name="Text 3"/>
          <p:cNvSpPr/>
          <p:nvPr/>
        </p:nvSpPr>
        <p:spPr>
          <a:xfrm>
            <a:off x="609600" y="438150"/>
            <a:ext cx="3381375" cy="228600"/>
          </a:xfrm>
          <a:prstGeom prst="rect">
            <a:avLst/>
          </a:prstGeom>
          <a:noFill/>
          <a:ln/>
        </p:spPr>
        <p:txBody>
          <a:bodyPr wrap="square" lIns="0" tIns="0" rIns="0" bIns="0" rtlCol="0" anchor="b"/>
          <a:lstStyle/>
          <a:p>
            <a:pPr algn="l" indent="0" marL="0">
              <a:lnSpc>
                <a:spcPts val="1693"/>
              </a:lnSpc>
              <a:buNone/>
            </a:pPr>
            <a:r>
              <a:rPr lang="en-US" sz="1283" b="1" spc="-26" kern="0" dirty="0">
                <a:solidFill>
                  <a:srgbClr val="000000">
                    <a:alpha val="99000"/>
                  </a:srgbClr>
                </a:solidFill>
                <a:latin typeface="Inter" pitchFamily="34" charset="0"/>
                <a:ea typeface="Inter" pitchFamily="34" charset="-122"/>
                <a:cs typeface="Inter" pitchFamily="34" charset="-120"/>
              </a:rPr>
              <a:t>1 : Codewords requires a behavior change</a:t>
            </a:r>
            <a:endParaRPr lang="en-US" sz="1283" dirty="0"/>
          </a:p>
        </p:txBody>
      </p:sp>
      <p:pic>
        <p:nvPicPr>
          <p:cNvPr id="7" name="Image 0" descr="preencoded.png">    </p:cNvPr>
          <p:cNvPicPr>
            <a:picLocks noChangeAspect="1"/>
          </p:cNvPicPr>
          <p:nvPr/>
        </p:nvPicPr>
        <p:blipFill>
          <a:blip r:embed="rId1"/>
          <a:srcRect l="0" r="0" t="0" b="0"/>
          <a:stretch/>
        </p:blipFill>
        <p:spPr>
          <a:xfrm>
            <a:off x="5734050" y="2533650"/>
            <a:ext cx="3005138" cy="2366963"/>
          </a:xfrm>
          <a:prstGeom prst="rect">
            <a:avLst/>
          </a:prstGeom>
        </p:spPr>
      </p:pic>
      <p:pic>
        <p:nvPicPr>
          <p:cNvPr id="8" name="Image 1" descr="preencoded.png">    </p:cNvPr>
          <p:cNvPicPr>
            <a:picLocks noChangeAspect="1"/>
          </p:cNvPicPr>
          <p:nvPr/>
        </p:nvPicPr>
        <p:blipFill>
          <a:blip r:embed="rId2"/>
          <a:srcRect l="0" r="0" t="0" b="0"/>
          <a:stretch/>
        </p:blipFill>
        <p:spPr>
          <a:xfrm>
            <a:off x="4419600" y="785813"/>
            <a:ext cx="2628900" cy="1476375"/>
          </a:xfrm>
          <a:prstGeom prst="rect">
            <a:avLst/>
          </a:prstGeom>
        </p:spPr>
      </p:pic>
      <p:pic>
        <p:nvPicPr>
          <p:cNvPr id="9" name="Image 2" descr="preencoded.png">    </p:cNvPr>
          <p:cNvPicPr>
            <a:picLocks noChangeAspect="1"/>
          </p:cNvPicPr>
          <p:nvPr/>
        </p:nvPicPr>
        <p:blipFill>
          <a:blip r:embed="rId3"/>
          <a:srcRect l="0" r="0" t="0" b="0"/>
          <a:stretch/>
        </p:blipFill>
        <p:spPr>
          <a:xfrm>
            <a:off x="6257925" y="376238"/>
            <a:ext cx="2738438" cy="1476375"/>
          </a:xfrm>
          <a:prstGeom prst="rect">
            <a:avLst/>
          </a:prstGeom>
        </p:spPr>
      </p:pic>
      <p:pic>
        <p:nvPicPr>
          <p:cNvPr id="10" name="Image 3" descr="preencoded.png">    </p:cNvPr>
          <p:cNvPicPr>
            <a:picLocks noChangeAspect="1"/>
          </p:cNvPicPr>
          <p:nvPr/>
        </p:nvPicPr>
        <p:blipFill>
          <a:blip r:embed="rId4"/>
          <a:srcRect l="0" r="0" t="0" b="0"/>
          <a:stretch/>
        </p:blipFill>
        <p:spPr>
          <a:xfrm>
            <a:off x="6191250" y="2262188"/>
            <a:ext cx="35070" cy="1835944"/>
          </a:xfrm>
          <a:prstGeom prst="rect">
            <a:avLst/>
          </a:prstGeom>
        </p:spPr>
      </p:pic>
      <p:pic>
        <p:nvPicPr>
          <p:cNvPr id="11" name="Image 4" descr="preencoded.png">    </p:cNvPr>
          <p:cNvPicPr>
            <a:picLocks noChangeAspect="1"/>
          </p:cNvPicPr>
          <p:nvPr/>
        </p:nvPicPr>
        <p:blipFill>
          <a:blip r:embed="rId5"/>
          <a:srcRect l="0" r="0" t="0" b="0"/>
          <a:stretch/>
        </p:blipFill>
        <p:spPr>
          <a:xfrm>
            <a:off x="6562725" y="1800225"/>
            <a:ext cx="1174128" cy="2560829"/>
          </a:xfrm>
          <a:prstGeom prst="rect">
            <a:avLst/>
          </a:prstGeom>
        </p:spPr>
      </p:pic>
      <p:sp>
        <p:nvSpPr>
          <p:cNvPr id="12" name="Text 4"/>
          <p:cNvSpPr/>
          <p:nvPr/>
        </p:nvSpPr>
        <p:spPr>
          <a:xfrm>
            <a:off x="833438" y="666750"/>
            <a:ext cx="3157538" cy="1714500"/>
          </a:xfrm>
          <a:prstGeom prst="rect">
            <a:avLst/>
          </a:prstGeom>
          <a:noFill/>
          <a:ln/>
        </p:spPr>
        <p:txBody>
          <a:bodyPr wrap="square" lIns="0" tIns="0" rIns="0" bIns="0" rtlCol="0" anchor="t"/>
          <a:lstStyle/>
          <a:p>
            <a:pPr algn="l" indent="0" marL="0">
              <a:lnSpc>
                <a:spcPts val="2565"/>
              </a:lnSpc>
              <a:buNone/>
            </a:pPr>
            <a:r>
              <a:rPr lang="en-US" sz="2138" b="1" spc="-47" kern="0" dirty="0">
                <a:solidFill>
                  <a:srgbClr val="000000">
                    <a:alpha val="99000"/>
                  </a:srgbClr>
                </a:solidFill>
                <a:latin typeface="Inter" pitchFamily="34" charset="0"/>
                <a:ea typeface="Inter" pitchFamily="34" charset="-122"/>
                <a:cs typeface="Inter" pitchFamily="34" charset="-120"/>
              </a:rPr>
              <a:t>We are introducing a new way of completing an existing behavior to users, not a new behavior</a:t>
            </a:r>
            <a:endParaRPr lang="en-US" sz="2138"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0" y="438150"/>
            <a:ext cx="3381375" cy="781050"/>
          </a:xfrm>
          <a:prstGeom prst="rect">
            <a:avLst/>
          </a:prstGeom>
          <a:noFill/>
          <a:ln/>
        </p:spPr>
        <p:txBody>
          <a:bodyPr wrap="square" lIns="0" tIns="0" rIns="0" bIns="0" rtlCol="0" anchor="b"/>
          <a:lstStyle/>
          <a:p>
            <a:pPr algn="l" indent="0" marL="0">
              <a:lnSpc>
                <a:spcPts val="1453"/>
              </a:lnSpc>
              <a:buNone/>
            </a:pPr>
            <a:r>
              <a:rPr lang="en-US" sz="1069" spc="-11" kern="0" dirty="0">
                <a:solidFill>
                  <a:srgbClr val="000000">
                    <a:alpha val="99000"/>
                  </a:srgbClr>
                </a:solidFill>
                <a:latin typeface="Inter" pitchFamily="34" charset="0"/>
                <a:ea typeface="Inter" pitchFamily="34" charset="-122"/>
                <a:cs typeface="Inter" pitchFamily="34" charset="-120"/>
              </a:rPr>
              <a:t>Codewords is a complex product and users will need to see how codewords works in their context for adoption, which will require more than one visit.</a:t>
            </a:r>
            <a:endParaRPr lang="en-US" sz="1069" dirty="0"/>
          </a:p>
          <a:p>
            <a:pPr algn="l" indent="0" marL="0">
              <a:lnSpc>
                <a:spcPts val="1453"/>
              </a:lnSpc>
              <a:buNone/>
            </a:pPr>
            <a:r>
              <a:rPr lang="en-US" sz="1069" spc="-11" kern="0" dirty="0">
                <a:solidFill>
                  <a:srgbClr val="000000">
                    <a:alpha val="99000"/>
                  </a:srgbClr>
                </a:solidFill>
                <a:latin typeface="Inter" pitchFamily="34" charset="0"/>
                <a:ea typeface="Inter" pitchFamily="34" charset="-122"/>
                <a:cs typeface="Inter" pitchFamily="34" charset="-120"/>
              </a:rPr>
              <a:t>We think mindsets will follow as per the diagram.</a:t>
            </a:r>
            <a:endParaRPr lang="en-US" sz="1069" dirty="0"/>
          </a:p>
        </p:txBody>
      </p:sp>
      <p:sp>
        <p:nvSpPr>
          <p:cNvPr id="3" name="Text 1"/>
          <p:cNvSpPr/>
          <p:nvPr/>
        </p:nvSpPr>
        <p:spPr>
          <a:xfrm>
            <a:off x="609600" y="438150"/>
            <a:ext cx="3381375" cy="228600"/>
          </a:xfrm>
          <a:prstGeom prst="rect">
            <a:avLst/>
          </a:prstGeom>
          <a:noFill/>
          <a:ln/>
        </p:spPr>
        <p:txBody>
          <a:bodyPr wrap="square" lIns="0" tIns="0" rIns="0" bIns="0" rtlCol="0" anchor="b"/>
          <a:lstStyle/>
          <a:p>
            <a:pPr algn="l" indent="0" marL="0">
              <a:lnSpc>
                <a:spcPts val="1693"/>
              </a:lnSpc>
              <a:buNone/>
            </a:pPr>
            <a:r>
              <a:rPr lang="en-US" sz="1283" b="1" spc="-26" kern="0" dirty="0">
                <a:solidFill>
                  <a:srgbClr val="000000">
                    <a:alpha val="99000"/>
                  </a:srgbClr>
                </a:solidFill>
                <a:latin typeface="Inter" pitchFamily="34" charset="0"/>
                <a:ea typeface="Inter" pitchFamily="34" charset="-122"/>
                <a:cs typeface="Inter" pitchFamily="34" charset="-120"/>
              </a:rPr>
              <a:t>2: There’s a journey to adoption</a:t>
            </a:r>
            <a:endParaRPr lang="en-US" sz="1283" dirty="0"/>
          </a:p>
        </p:txBody>
      </p:sp>
      <p:sp>
        <p:nvSpPr>
          <p:cNvPr id="4" name="Text 2"/>
          <p:cNvSpPr/>
          <p:nvPr/>
        </p:nvSpPr>
        <p:spPr>
          <a:xfrm>
            <a:off x="776288" y="781050"/>
            <a:ext cx="3381375" cy="1371600"/>
          </a:xfrm>
          <a:prstGeom prst="rect">
            <a:avLst/>
          </a:prstGeom>
          <a:noFill/>
          <a:ln/>
        </p:spPr>
        <p:txBody>
          <a:bodyPr wrap="square" lIns="0" tIns="0" rIns="0" bIns="0" rtlCol="0" anchor="t"/>
          <a:lstStyle/>
          <a:p>
            <a:pPr algn="l" indent="0" marL="0">
              <a:lnSpc>
                <a:spcPts val="2565"/>
              </a:lnSpc>
              <a:buNone/>
            </a:pPr>
            <a:r>
              <a:rPr lang="en-US" sz="2138" b="1" spc="-47" kern="0" dirty="0">
                <a:solidFill>
                  <a:srgbClr val="000000">
                    <a:alpha val="99000"/>
                  </a:srgbClr>
                </a:solidFill>
                <a:latin typeface="Inter" pitchFamily="34" charset="0"/>
                <a:ea typeface="Inter" pitchFamily="34" charset="-122"/>
                <a:cs typeface="Inter" pitchFamily="34" charset="-120"/>
              </a:rPr>
              <a:t>We believe that new users will not be prepared to create from a blank prompt at first</a:t>
            </a:r>
            <a:endParaRPr lang="en-US" sz="2138" dirty="0"/>
          </a:p>
        </p:txBody>
      </p:sp>
      <p:sp>
        <p:nvSpPr>
          <p:cNvPr id="5" name="Text 3"/>
          <p:cNvSpPr/>
          <p:nvPr/>
        </p:nvSpPr>
        <p:spPr>
          <a:xfrm>
            <a:off x="3552825" y="2783681"/>
            <a:ext cx="971550" cy="838200"/>
          </a:xfrm>
          <a:prstGeom prst="ellipse">
            <a:avLst/>
          </a:prstGeom>
          <a:solidFill>
            <a:srgbClr val="E4CCFF"/>
          </a:solidFill>
          <a:ln/>
        </p:spPr>
        <p:txBody>
          <a:bodyPr wrap="square" rtlCol="0" anchor="ctr"/>
          <a:lstStyle/>
          <a:p>
            <a:pPr indent="0" marL="0">
              <a:buNone/>
            </a:pPr>
            <a:r>
              <a:rPr lang="en-US" dirty="0">
                <a:solidFill>
                  <a:srgbClr val="000000"/>
                </a:solidFill>
              </a:rPr>
              <a:t>Learn Capabilities Starts off on marketing/starting page</a:t>
            </a:r>
            <a:endParaRPr lang="en-US" dirty="0"/>
          </a:p>
        </p:txBody>
      </p:sp>
      <p:sp>
        <p:nvSpPr>
          <p:cNvPr id="6" name="Text 4"/>
          <p:cNvSpPr/>
          <p:nvPr/>
        </p:nvSpPr>
        <p:spPr>
          <a:xfrm>
            <a:off x="1900238" y="3764756"/>
            <a:ext cx="1352550" cy="1038225"/>
          </a:xfrm>
          <a:prstGeom prst="ellipse">
            <a:avLst/>
          </a:prstGeom>
          <a:solidFill>
            <a:srgbClr val="FFC7C2"/>
          </a:solidFill>
          <a:ln/>
        </p:spPr>
        <p:txBody>
          <a:bodyPr wrap="square" rtlCol="0" anchor="ctr"/>
          <a:lstStyle/>
          <a:p>
            <a:pPr indent="0" marL="0">
              <a:buNone/>
            </a:pPr>
            <a:r>
              <a:rPr lang="en-US" dirty="0">
                <a:solidFill>
                  <a:srgbClr val="000000"/>
                </a:solidFill>
              </a:rPr>
              <a:t>“How do I ....” ”Can I use a tool to let me ...”</a:t>
            </a:r>
            <a:endParaRPr lang="en-US" dirty="0"/>
          </a:p>
          <a:p>
            <a:pPr indent="0" marL="0">
              <a:buNone/>
            </a:pPr>
            <a:r>
              <a:rPr lang="en-US" dirty="0">
                <a:solidFill>
                  <a:srgbClr val="000000"/>
                </a:solidFill>
              </a:rPr>
              <a:t>“Can I find something similar to help me with the problem I have now”</a:t>
            </a:r>
            <a:endParaRPr lang="en-US" dirty="0"/>
          </a:p>
        </p:txBody>
      </p:sp>
      <p:sp>
        <p:nvSpPr>
          <p:cNvPr id="7" name="Text 5"/>
          <p:cNvSpPr/>
          <p:nvPr/>
        </p:nvSpPr>
        <p:spPr>
          <a:xfrm>
            <a:off x="2295525" y="3202781"/>
            <a:ext cx="533400" cy="409575"/>
          </a:xfrm>
          <a:prstGeom prst="ellipse">
            <a:avLst/>
          </a:prstGeom>
          <a:solidFill>
            <a:srgbClr val="E4CCFF"/>
          </a:solidFill>
          <a:ln/>
        </p:spPr>
        <p:txBody>
          <a:bodyPr wrap="square" rtlCol="0" anchor="ctr"/>
          <a:lstStyle/>
          <a:p>
            <a:pPr indent="0" marL="0">
              <a:buNone/>
            </a:pPr>
            <a:r>
              <a:rPr lang="en-US" dirty="0">
                <a:solidFill>
                  <a:srgbClr val="000000"/>
                </a:solidFill>
              </a:rPr>
              <a:t>Pre discovery</a:t>
            </a:r>
            <a:endParaRPr lang="en-US" dirty="0"/>
          </a:p>
        </p:txBody>
      </p:sp>
      <p:sp>
        <p:nvSpPr>
          <p:cNvPr id="8" name="Text 6"/>
          <p:cNvSpPr/>
          <p:nvPr/>
        </p:nvSpPr>
        <p:spPr>
          <a:xfrm>
            <a:off x="5367338" y="3764756"/>
            <a:ext cx="1352550" cy="1038225"/>
          </a:xfrm>
          <a:prstGeom prst="ellipse">
            <a:avLst/>
          </a:prstGeom>
          <a:solidFill>
            <a:srgbClr val="FFC7C2"/>
          </a:solidFill>
          <a:ln/>
        </p:spPr>
        <p:txBody>
          <a:bodyPr wrap="square" rtlCol="0" anchor="ctr"/>
          <a:lstStyle/>
          <a:p>
            <a:pPr indent="0" marL="0">
              <a:buNone/>
            </a:pPr>
            <a:r>
              <a:rPr lang="en-US" dirty="0">
                <a:solidFill>
                  <a:srgbClr val="000000"/>
                </a:solidFill>
              </a:rPr>
              <a:t>“Can I try this for a something simple ...”</a:t>
            </a:r>
            <a:endParaRPr lang="en-US" dirty="0"/>
          </a:p>
          <a:p>
            <a:pPr indent="0" marL="0">
              <a:buNone/>
            </a:pPr>
            <a:r>
              <a:rPr lang="en-US" dirty="0">
                <a:solidFill>
                  <a:srgbClr val="000000"/>
                </a:solidFill>
              </a:rPr>
              <a:t>“Can I trust this to be consistent for...”</a:t>
            </a:r>
            <a:endParaRPr lang="en-US" dirty="0"/>
          </a:p>
        </p:txBody>
      </p:sp>
      <p:sp>
        <p:nvSpPr>
          <p:cNvPr id="9" name="Text 7"/>
          <p:cNvSpPr/>
          <p:nvPr/>
        </p:nvSpPr>
        <p:spPr>
          <a:xfrm>
            <a:off x="3429000" y="3788569"/>
            <a:ext cx="1352550" cy="1038225"/>
          </a:xfrm>
          <a:prstGeom prst="ellipse">
            <a:avLst/>
          </a:prstGeom>
          <a:solidFill>
            <a:srgbClr val="FFC7C2"/>
          </a:solidFill>
          <a:ln/>
        </p:spPr>
        <p:txBody>
          <a:bodyPr wrap="square" rtlCol="0" anchor="ctr"/>
          <a:lstStyle/>
          <a:p>
            <a:pPr indent="0" marL="0">
              <a:buNone/>
            </a:pPr>
            <a:r>
              <a:rPr lang="en-US" dirty="0">
                <a:solidFill>
                  <a:srgbClr val="000000"/>
                </a:solidFill>
              </a:rPr>
              <a:t>“Does this work for ...”</a:t>
            </a:r>
            <a:endParaRPr lang="en-US" dirty="0"/>
          </a:p>
          <a:p>
            <a:pPr indent="0" marL="0">
              <a:buNone/>
            </a:pPr>
            <a:r>
              <a:rPr lang="en-US" dirty="0">
                <a:solidFill>
                  <a:srgbClr val="000000"/>
                </a:solidFill>
              </a:rPr>
              <a:t>“It’s cool this can do ...”</a:t>
            </a:r>
            <a:endParaRPr lang="en-US" dirty="0"/>
          </a:p>
          <a:p>
            <a:pPr indent="0" marL="0">
              <a:buNone/>
            </a:pPr>
            <a:r>
              <a:rPr lang="en-US" dirty="0">
                <a:solidFill>
                  <a:srgbClr val="000000"/>
                </a:solidFill>
              </a:rPr>
              <a:t>“I wonder if this could apply for my ...”</a:t>
            </a:r>
            <a:endParaRPr lang="en-US" dirty="0"/>
          </a:p>
          <a:p>
            <a:pPr indent="0" marL="0">
              <a:buNone/>
            </a:pPr>
            <a:r>
              <a:rPr lang="en-US" dirty="0">
                <a:solidFill>
                  <a:srgbClr val="000000"/>
                </a:solidFill>
              </a:rPr>
              <a:t>“Could this integrate or replace my existing ...”</a:t>
            </a:r>
            <a:endParaRPr lang="en-US" dirty="0"/>
          </a:p>
        </p:txBody>
      </p:sp>
      <p:sp>
        <p:nvSpPr>
          <p:cNvPr id="10" name="Text 8"/>
          <p:cNvSpPr/>
          <p:nvPr/>
        </p:nvSpPr>
        <p:spPr>
          <a:xfrm>
            <a:off x="7267575" y="3726656"/>
            <a:ext cx="1352550" cy="1181100"/>
          </a:xfrm>
          <a:prstGeom prst="ellipse">
            <a:avLst/>
          </a:prstGeom>
          <a:solidFill>
            <a:srgbClr val="FFC7C2"/>
          </a:solidFill>
          <a:ln/>
        </p:spPr>
        <p:txBody>
          <a:bodyPr wrap="square" rtlCol="0" anchor="ctr"/>
          <a:lstStyle/>
          <a:p>
            <a:pPr indent="0" marL="0">
              <a:buNone/>
            </a:pPr>
            <a:r>
              <a:rPr lang="en-US" dirty="0">
                <a:solidFill>
                  <a:srgbClr val="000000"/>
                </a:solidFill>
              </a:rPr>
              <a:t>“How can this fit into my workflow for ...”</a:t>
            </a:r>
            <a:endParaRPr lang="en-US" dirty="0"/>
          </a:p>
          <a:p>
            <a:pPr indent="0" marL="0">
              <a:buNone/>
            </a:pPr>
            <a:r>
              <a:rPr lang="en-US" dirty="0">
                <a:solidFill>
                  <a:srgbClr val="000000"/>
                </a:solidFill>
              </a:rPr>
              <a:t>“How can I modernize this existing workflow with ...”</a:t>
            </a:r>
            <a:endParaRPr lang="en-US" dirty="0"/>
          </a:p>
          <a:p>
            <a:pPr indent="0" marL="0">
              <a:buNone/>
            </a:pPr>
            <a:r>
              <a:rPr lang="en-US" dirty="0">
                <a:solidFill>
                  <a:srgbClr val="000000"/>
                </a:solidFill>
              </a:rPr>
              <a:t>“How can I make this function into something I can integrate in ...:</a:t>
            </a:r>
            <a:endParaRPr lang="en-US" dirty="0"/>
          </a:p>
        </p:txBody>
      </p:sp>
      <p:sp>
        <p:nvSpPr>
          <p:cNvPr id="11" name="Text 9"/>
          <p:cNvSpPr/>
          <p:nvPr/>
        </p:nvSpPr>
        <p:spPr>
          <a:xfrm>
            <a:off x="857250" y="4002881"/>
            <a:ext cx="609600" cy="561975"/>
          </a:xfrm>
          <a:prstGeom prst="ellipse">
            <a:avLst/>
          </a:prstGeom>
          <a:solidFill>
            <a:srgbClr val="FFC7C2"/>
          </a:solidFill>
          <a:ln/>
        </p:spPr>
        <p:txBody>
          <a:bodyPr wrap="square" rtlCol="0" anchor="ctr"/>
          <a:lstStyle/>
          <a:p>
            <a:pPr indent="0" marL="0">
              <a:buNone/>
            </a:pPr>
            <a:r>
              <a:rPr lang="en-US" dirty="0">
                <a:solidFill>
                  <a:srgbClr val="000000"/>
                </a:solidFill>
              </a:rPr>
              <a:t>Users’ “State of Mind”</a:t>
            </a:r>
            <a:endParaRPr lang="en-US" dirty="0"/>
          </a:p>
        </p:txBody>
      </p:sp>
      <p:sp>
        <p:nvSpPr>
          <p:cNvPr id="12" name="Text 10"/>
          <p:cNvSpPr/>
          <p:nvPr/>
        </p:nvSpPr>
        <p:spPr>
          <a:xfrm>
            <a:off x="5591175" y="2783681"/>
            <a:ext cx="838200" cy="838200"/>
          </a:xfrm>
          <a:prstGeom prst="ellipse">
            <a:avLst/>
          </a:prstGeom>
          <a:solidFill>
            <a:srgbClr val="E4CCFF"/>
          </a:solidFill>
          <a:ln/>
        </p:spPr>
        <p:txBody>
          <a:bodyPr wrap="square" rtlCol="0" anchor="ctr"/>
          <a:lstStyle/>
          <a:p>
            <a:pPr indent="0" marL="0">
              <a:buNone/>
            </a:pPr>
            <a:r>
              <a:rPr lang="en-US" dirty="0">
                <a:solidFill>
                  <a:srgbClr val="000000"/>
                </a:solidFill>
              </a:rPr>
              <a:t>Refines Need Explore / Remix pages???</a:t>
            </a:r>
            <a:endParaRPr lang="en-US" dirty="0"/>
          </a:p>
        </p:txBody>
      </p:sp>
      <p:sp>
        <p:nvSpPr>
          <p:cNvPr id="13" name="Text 11"/>
          <p:cNvSpPr/>
          <p:nvPr/>
        </p:nvSpPr>
        <p:spPr>
          <a:xfrm>
            <a:off x="7153275" y="2424113"/>
            <a:ext cx="1447800" cy="1457325"/>
          </a:xfrm>
          <a:prstGeom prst="ellipse">
            <a:avLst/>
          </a:prstGeom>
          <a:solidFill>
            <a:srgbClr val="E4CCFF"/>
          </a:solidFill>
          <a:ln/>
        </p:spPr>
        <p:txBody>
          <a:bodyPr wrap="square" rtlCol="0" anchor="ctr"/>
          <a:lstStyle/>
          <a:p>
            <a:pPr indent="0" marL="0">
              <a:buNone/>
            </a:pPr>
            <a:r>
              <a:rPr lang="en-US" dirty="0">
                <a:solidFill>
                  <a:srgbClr val="000000"/>
                </a:solidFill>
              </a:rPr>
              <a:t>Creates Solution This is where the user is either</a:t>
            </a:r>
            <a:endParaRPr lang="en-US" dirty="0"/>
          </a:p>
          <a:p>
            <a:pPr indent="0" marL="0">
              <a:buNone/>
            </a:pPr>
            <a:r>
              <a:rPr lang="en-US" dirty="0">
                <a:solidFill>
                  <a:srgbClr val="000000"/>
                </a:solidFill>
              </a:rPr>
              <a:t>evangelist</a:t>
            </a:r>
            <a:endParaRPr lang="en-US" dirty="0"/>
          </a:p>
          <a:p>
            <a:pPr indent="0" marL="0">
              <a:buNone/>
            </a:pPr>
            <a:r>
              <a:rPr lang="en-US" dirty="0">
                <a:solidFill>
                  <a:srgbClr val="000000"/>
                </a:solidFill>
              </a:rPr>
              <a:t>familiar with 70%+ features</a:t>
            </a:r>
            <a:endParaRPr lang="en-US" dirty="0"/>
          </a:p>
          <a:p>
            <a:pPr indent="0" marL="0">
              <a:buNone/>
            </a:pPr>
            <a:r>
              <a:rPr lang="en-US" dirty="0">
                <a:solidFill>
                  <a:srgbClr val="000000"/>
                </a:solidFill>
              </a:rPr>
              <a:t>creating functions for fun</a:t>
            </a:r>
            <a:endParaRPr lang="en-US" dirty="0"/>
          </a:p>
          <a:p>
            <a:pPr indent="0" marL="0">
              <a:buNone/>
            </a:pPr>
            <a:r>
              <a:rPr lang="en-US" dirty="0">
                <a:solidFill>
                  <a:srgbClr val="000000"/>
                </a:solidFill>
              </a:rPr>
              <a:t>has codewords as a part of their pipeline</a:t>
            </a:r>
            <a:endParaRPr lang="en-US" dirty="0"/>
          </a:p>
        </p:txBody>
      </p:sp>
      <p:sp>
        <p:nvSpPr>
          <p:cNvPr id="14" name="Text 12"/>
          <p:cNvSpPr/>
          <p:nvPr/>
        </p:nvSpPr>
        <p:spPr>
          <a:xfrm>
            <a:off x="4995863" y="1347788"/>
            <a:ext cx="3448050" cy="1066800"/>
          </a:xfrm>
          <a:prstGeom prst="rect">
            <a:avLst/>
          </a:prstGeom>
          <a:noFill/>
          <a:ln/>
        </p:spPr>
        <p:txBody>
          <a:bodyPr wrap="square" lIns="0" tIns="0" rIns="0" bIns="0" rtlCol="0" anchor="b"/>
          <a:lstStyle/>
          <a:p>
            <a:pPr algn="l" indent="0" marL="0">
              <a:lnSpc>
                <a:spcPts val="1146"/>
              </a:lnSpc>
              <a:buNone/>
            </a:pPr>
            <a:r>
              <a:rPr lang="en-US" sz="855" b="1" spc="-4" kern="0" dirty="0">
                <a:solidFill>
                  <a:srgbClr val="000000">
                    <a:alpha val="99000"/>
                  </a:srgbClr>
                </a:solidFill>
                <a:latin typeface="Inter" pitchFamily="34" charset="0"/>
                <a:ea typeface="Inter" pitchFamily="34" charset="-122"/>
                <a:cs typeface="Inter" pitchFamily="34" charset="-120"/>
              </a:rPr>
              <a:t>How to test</a:t>
            </a:r>
            <a:endParaRPr lang="en-US" sz="855" dirty="0"/>
          </a:p>
          <a:p>
            <a:pPr algn="l" marL="342900" indent="-342900">
              <a:lnSpc>
                <a:spcPts val="1146"/>
              </a:lnSpc>
              <a:buSzPct val="100000"/>
              <a:buChar char="•"/>
            </a:pPr>
            <a:r>
              <a:rPr lang="en-US" sz="855" b="1" spc="-4" kern="0" dirty="0">
                <a:solidFill>
                  <a:srgbClr val="000000">
                    <a:alpha val="99000"/>
                  </a:srgbClr>
                </a:solidFill>
                <a:latin typeface="Inter" pitchFamily="34" charset="0"/>
                <a:ea typeface="Inter" pitchFamily="34" charset="-122"/>
                <a:cs typeface="Inter" pitchFamily="34" charset="-120"/>
              </a:rPr>
              <a:t>visit number for first usage / creation / where creation / usage of function is occurring (remix/ home page/ function page/etc)</a:t>
            </a:r>
            <a:endParaRPr lang="en-US" sz="855" dirty="0"/>
          </a:p>
          <a:p>
            <a:pPr algn="l" lvl="1" marL="685800" indent="-342900">
              <a:lnSpc>
                <a:spcPts val="1146"/>
              </a:lnSpc>
              <a:buSzPct val="100000"/>
              <a:buChar char="•"/>
            </a:pPr>
            <a:r>
              <a:rPr lang="en-US" sz="855" b="1" spc="-4" kern="0" dirty="0">
                <a:solidFill>
                  <a:srgbClr val="000000">
                    <a:alpha val="99000"/>
                  </a:srgbClr>
                </a:solidFill>
                <a:latin typeface="Inter" pitchFamily="34" charset="0"/>
                <a:ea typeface="Inter" pitchFamily="34" charset="-122"/>
                <a:cs typeface="Inter" pitchFamily="34" charset="-120"/>
              </a:rPr>
              <a:t>if hypothesis hold true, we would expect to see users having a longer adoption cycle (pages/visits) to habitually get to blank prompt creation</a:t>
            </a:r>
            <a:endParaRPr lang="en-US" sz="855"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09600" y="4367213"/>
            <a:ext cx="3381375" cy="390525"/>
          </a:xfrm>
          <a:prstGeom prst="rect">
            <a:avLst/>
          </a:prstGeom>
          <a:noFill/>
          <a:ln/>
        </p:spPr>
        <p:txBody>
          <a:bodyPr wrap="square" lIns="0" tIns="0" rIns="0" bIns="0" rtlCol="0" anchor="b"/>
          <a:lstStyle/>
          <a:p>
            <a:pPr algn="l" indent="0" marL="0">
              <a:lnSpc>
                <a:spcPts val="1453"/>
              </a:lnSpc>
              <a:buNone/>
            </a:pPr>
            <a:r>
              <a:rPr lang="en-US" sz="1069" spc="-11" kern="0" dirty="0">
                <a:solidFill>
                  <a:srgbClr val="000000">
                    <a:alpha val="99000"/>
                  </a:srgbClr>
                </a:solidFill>
                <a:latin typeface="Inter" pitchFamily="34" charset="0"/>
                <a:ea typeface="Inter" pitchFamily="34" charset="-122"/>
                <a:cs typeface="Inter" pitchFamily="34" charset="-120"/>
              </a:rPr>
              <a:t>Codewords is a mastery oriented product, we want to design our workflows according to that.</a:t>
            </a:r>
            <a:endParaRPr lang="en-US" sz="1069" dirty="0"/>
          </a:p>
        </p:txBody>
      </p:sp>
      <p:sp>
        <p:nvSpPr>
          <p:cNvPr id="3" name="Text 1"/>
          <p:cNvSpPr/>
          <p:nvPr/>
        </p:nvSpPr>
        <p:spPr>
          <a:xfrm>
            <a:off x="423863" y="609600"/>
            <a:ext cx="3381375" cy="228600"/>
          </a:xfrm>
          <a:prstGeom prst="rect">
            <a:avLst/>
          </a:prstGeom>
          <a:noFill/>
          <a:ln/>
        </p:spPr>
        <p:txBody>
          <a:bodyPr wrap="square" lIns="0" tIns="0" rIns="0" bIns="0" rtlCol="0" anchor="b"/>
          <a:lstStyle/>
          <a:p>
            <a:pPr algn="l" indent="0" marL="0">
              <a:lnSpc>
                <a:spcPts val="1693"/>
              </a:lnSpc>
              <a:buNone/>
            </a:pPr>
            <a:r>
              <a:rPr lang="en-US" sz="1283" b="1" spc="-26" kern="0" dirty="0">
                <a:solidFill>
                  <a:srgbClr val="000000">
                    <a:alpha val="99000"/>
                  </a:srgbClr>
                </a:solidFill>
                <a:latin typeface="Inter" pitchFamily="34" charset="0"/>
                <a:ea typeface="Inter" pitchFamily="34" charset="-122"/>
                <a:cs typeface="Inter" pitchFamily="34" charset="-120"/>
              </a:rPr>
              <a:t>3: Intent &gt; Curiosity</a:t>
            </a:r>
            <a:endParaRPr lang="en-US" sz="1283" dirty="0"/>
          </a:p>
        </p:txBody>
      </p:sp>
      <p:sp>
        <p:nvSpPr>
          <p:cNvPr id="4" name="Text 2"/>
          <p:cNvSpPr/>
          <p:nvPr/>
        </p:nvSpPr>
        <p:spPr>
          <a:xfrm>
            <a:off x="609600" y="952500"/>
            <a:ext cx="3381375" cy="1714500"/>
          </a:xfrm>
          <a:prstGeom prst="rect">
            <a:avLst/>
          </a:prstGeom>
          <a:noFill/>
          <a:ln/>
        </p:spPr>
        <p:txBody>
          <a:bodyPr wrap="square" lIns="0" tIns="0" rIns="0" bIns="0" rtlCol="0" anchor="t"/>
          <a:lstStyle/>
          <a:p>
            <a:pPr algn="l" indent="0" marL="0">
              <a:lnSpc>
                <a:spcPts val="2565"/>
              </a:lnSpc>
              <a:buNone/>
            </a:pPr>
            <a:r>
              <a:rPr lang="en-US" sz="2138" b="1" spc="-47" kern="0" dirty="0">
                <a:solidFill>
                  <a:srgbClr val="000000">
                    <a:alpha val="99000"/>
                  </a:srgbClr>
                </a:solidFill>
                <a:latin typeface="Inter" pitchFamily="34" charset="0"/>
                <a:ea typeface="Inter" pitchFamily="34" charset="-122"/>
                <a:cs typeface="Inter" pitchFamily="34" charset="-120"/>
              </a:rPr>
              <a:t>Favor people who have a goal to complete, and secondarily support people who are curious or idly browsing</a:t>
            </a:r>
            <a:endParaRPr lang="en-US" sz="2138" dirty="0"/>
          </a:p>
        </p:txBody>
      </p:sp>
      <p:sp>
        <p:nvSpPr>
          <p:cNvPr id="5" name="Text 3"/>
          <p:cNvSpPr/>
          <p:nvPr/>
        </p:nvSpPr>
        <p:spPr>
          <a:xfrm>
            <a:off x="4914900" y="1109663"/>
            <a:ext cx="3686175" cy="1219200"/>
          </a:xfrm>
          <a:prstGeom prst="rect">
            <a:avLst/>
          </a:prstGeom>
          <a:noFill/>
          <a:ln/>
        </p:spPr>
        <p:txBody>
          <a:bodyPr wrap="square" lIns="0" tIns="0" rIns="0" bIns="0" rtlCol="0" anchor="b"/>
          <a:lstStyle/>
          <a:p>
            <a:pPr algn="l" indent="0" marL="0">
              <a:lnSpc>
                <a:spcPts val="1146"/>
              </a:lnSpc>
              <a:buNone/>
            </a:pPr>
            <a:r>
              <a:rPr lang="en-US" sz="855" b="1" spc="-4" kern="0" dirty="0">
                <a:solidFill>
                  <a:srgbClr val="000000">
                    <a:alpha val="99000"/>
                  </a:srgbClr>
                </a:solidFill>
                <a:latin typeface="Inter" pitchFamily="34" charset="0"/>
                <a:ea typeface="Inter" pitchFamily="34" charset="-122"/>
                <a:cs typeface="Inter" pitchFamily="34" charset="-120"/>
              </a:rPr>
              <a:t>How to test:</a:t>
            </a:r>
            <a:endParaRPr lang="en-US" sz="855" dirty="0"/>
          </a:p>
          <a:p>
            <a:pPr algn="l" indent="0" marL="0">
              <a:lnSpc>
                <a:spcPts val="1146"/>
              </a:lnSpc>
              <a:buNone/>
            </a:pPr>
            <a:r>
              <a:rPr lang="en-US" sz="855" b="1" spc="-4" kern="0" dirty="0">
                <a:solidFill>
                  <a:srgbClr val="000000">
                    <a:alpha val="99000"/>
                  </a:srgbClr>
                </a:solidFill>
                <a:latin typeface="Inter" pitchFamily="34" charset="0"/>
                <a:ea typeface="Inter" pitchFamily="34" charset="-122"/>
                <a:cs typeface="Inter" pitchFamily="34" charset="-120"/>
              </a:rPr>
              <a:t>Mastery is hard to measure in short term but you can check via</a:t>
            </a:r>
            <a:endParaRPr lang="en-US" sz="855" dirty="0"/>
          </a:p>
          <a:p>
            <a:pPr algn="l" indent="0" marL="0">
              <a:lnSpc>
                <a:spcPts val="1146"/>
              </a:lnSpc>
              <a:buNone/>
            </a:pPr>
            <a:r>
              <a:rPr lang="en-US" sz="855" b="1" spc="-4" kern="0" dirty="0">
                <a:solidFill>
                  <a:srgbClr val="000000">
                    <a:alpha val="99000"/>
                  </a:srgbClr>
                </a:solidFill>
                <a:latin typeface="Inter" pitchFamily="34" charset="0"/>
                <a:ea typeface="Inter" pitchFamily="34" charset="-122"/>
                <a:cs typeface="Inter" pitchFamily="34" charset="-120"/>
              </a:rPr>
              <a:t>a) time spent using codewords (mastery products tend to have higher time spent in single session overtime)</a:t>
            </a:r>
            <a:endParaRPr lang="en-US" sz="855" dirty="0"/>
          </a:p>
          <a:p>
            <a:pPr algn="l" indent="0" marL="0">
              <a:lnSpc>
                <a:spcPts val="1146"/>
              </a:lnSpc>
              <a:buNone/>
            </a:pPr>
            <a:r>
              <a:rPr lang="en-US" sz="855" b="1" spc="-4" kern="0" dirty="0">
                <a:solidFill>
                  <a:srgbClr val="000000">
                    <a:alpha val="99000"/>
                  </a:srgbClr>
                </a:solidFill>
                <a:latin typeface="Inter" pitchFamily="34" charset="0"/>
                <a:ea typeface="Inter" pitchFamily="34" charset="-122"/>
                <a:cs typeface="Inter" pitchFamily="34" charset="-120"/>
              </a:rPr>
              <a:t>b) complexity of functions people are designing using codewords</a:t>
            </a:r>
            <a:endParaRPr lang="en-US" sz="855" dirty="0"/>
          </a:p>
          <a:p>
            <a:pPr algn="l" marL="342900" indent="-342900">
              <a:lnSpc>
                <a:spcPts val="1146"/>
              </a:lnSpc>
              <a:buSzPct val="100000"/>
              <a:buChar char="•"/>
            </a:pPr>
            <a:r>
              <a:rPr lang="en-US" sz="855" b="1" spc="-4" kern="0" dirty="0">
                <a:solidFill>
                  <a:srgbClr val="000000">
                    <a:alpha val="99000"/>
                  </a:srgbClr>
                </a:solidFill>
                <a:latin typeface="Inter" pitchFamily="34" charset="0"/>
                <a:ea typeface="Inter" pitchFamily="34" charset="-122"/>
                <a:cs typeface="Inter" pitchFamily="34" charset="-120"/>
              </a:rPr>
              <a:t>what percentage are moving from using codewords functions to make more complex functions</a:t>
            </a:r>
            <a:endParaRPr lang="en-US" sz="855" dirty="0"/>
          </a:p>
          <a:p>
            <a:pPr algn="l" marL="342900" indent="-342900">
              <a:lnSpc>
                <a:spcPts val="1146"/>
              </a:lnSpc>
              <a:buSzPct val="100000"/>
              <a:buChar char="•"/>
            </a:pPr>
            <a:r>
              <a:rPr lang="en-US" sz="855" b="1" spc="-4" kern="0" dirty="0">
                <a:solidFill>
                  <a:srgbClr val="000000">
                    <a:alpha val="99000"/>
                  </a:srgbClr>
                </a:solidFill>
                <a:latin typeface="Inter" pitchFamily="34" charset="0"/>
                <a:ea typeface="Inter" pitchFamily="34" charset="-122"/>
                <a:cs typeface="Inter" pitchFamily="34" charset="-120"/>
              </a:rPr>
              <a:t>number of blocks in function graph</a:t>
            </a:r>
            <a:endParaRPr lang="en-US" sz="855" dirty="0"/>
          </a:p>
        </p:txBody>
      </p:sp>
      <p:sp>
        <p:nvSpPr>
          <p:cNvPr id="6" name="Text 4"/>
          <p:cNvSpPr/>
          <p:nvPr/>
        </p:nvSpPr>
        <p:spPr>
          <a:xfrm>
            <a:off x="4914900" y="3538538"/>
            <a:ext cx="3686175" cy="1171575"/>
          </a:xfrm>
          <a:prstGeom prst="rect">
            <a:avLst/>
          </a:prstGeom>
          <a:noFill/>
          <a:ln/>
        </p:spPr>
        <p:txBody>
          <a:bodyPr wrap="square" lIns="0" tIns="0" rIns="0" bIns="0" rtlCol="0" anchor="b"/>
          <a:lstStyle/>
          <a:p>
            <a:pPr algn="l" indent="0" marL="0">
              <a:lnSpc>
                <a:spcPts val="1453"/>
              </a:lnSpc>
              <a:buNone/>
            </a:pPr>
            <a:r>
              <a:rPr lang="en-US" sz="1069" spc="-11" kern="0" dirty="0">
                <a:solidFill>
                  <a:srgbClr val="000000">
                    <a:alpha val="99000"/>
                  </a:srgbClr>
                </a:solidFill>
                <a:latin typeface="Inter" pitchFamily="34" charset="0"/>
                <a:ea typeface="Inter" pitchFamily="34" charset="-122"/>
                <a:cs typeface="Inter" pitchFamily="34" charset="-120"/>
              </a:rPr>
              <a:t>Note : while the team wants to build a product for the power user, it is valuable to see if this hypothesis holds true, if that is the behaviour we are seeing, and if we want to design for it, and it isnt happening, how can we change the design of the product to make that more successful.</a:t>
            </a:r>
            <a:endParaRPr lang="en-US" sz="1069"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609600" y="1924050"/>
            <a:ext cx="3290888" cy="585788"/>
          </a:xfrm>
          <a:prstGeom prst="rect">
            <a:avLst/>
          </a:prstGeom>
          <a:noFill/>
          <a:ln/>
        </p:spPr>
        <p:txBody>
          <a:bodyPr wrap="square" lIns="0" tIns="0" rIns="0" bIns="0" rtlCol="0" anchor="b"/>
          <a:lstStyle/>
          <a:p>
            <a:pPr algn="l" indent="0" marL="0">
              <a:lnSpc>
                <a:spcPts val="1453"/>
              </a:lnSpc>
              <a:buNone/>
            </a:pPr>
            <a:r>
              <a:rPr lang="en-US" sz="1069" spc="-11" kern="0" dirty="0">
                <a:solidFill>
                  <a:srgbClr val="000000">
                    <a:alpha val="99000"/>
                  </a:srgbClr>
                </a:solidFill>
                <a:latin typeface="Inter" pitchFamily="34" charset="0"/>
                <a:ea typeface="Inter" pitchFamily="34" charset="-122"/>
                <a:cs typeface="Inter" pitchFamily="34" charset="-120"/>
              </a:rPr>
              <a:t>Codewords is complex and powerful, we fully intend to design for power users, and enable them learning the depths of the tool.</a:t>
            </a:r>
            <a:endParaRPr lang="en-US" sz="1069" dirty="0"/>
          </a:p>
        </p:txBody>
      </p:sp>
      <p:sp>
        <p:nvSpPr>
          <p:cNvPr id="4" name="Text 1"/>
          <p:cNvSpPr/>
          <p:nvPr/>
        </p:nvSpPr>
        <p:spPr>
          <a:xfrm>
            <a:off x="366713" y="3957638"/>
            <a:ext cx="2238375" cy="609600"/>
          </a:xfrm>
          <a:prstGeom prst="rect">
            <a:avLst/>
          </a:prstGeom>
          <a:noFill/>
          <a:ln/>
        </p:spPr>
        <p:txBody>
          <a:bodyPr wrap="square" lIns="0" tIns="0" rIns="0" bIns="0" rtlCol="0" anchor="b"/>
          <a:lstStyle/>
          <a:p>
            <a:pPr algn="r" indent="0" marL="0">
              <a:lnSpc>
                <a:spcPts val="1146"/>
              </a:lnSpc>
              <a:buNone/>
            </a:pPr>
            <a:r>
              <a:rPr lang="en-US" sz="855" spc="-4" kern="0" dirty="0">
                <a:solidFill>
                  <a:srgbClr val="000000">
                    <a:alpha val="99000"/>
                  </a:srgbClr>
                </a:solidFill>
                <a:latin typeface="Inter" pitchFamily="34" charset="0"/>
                <a:ea typeface="Inter" pitchFamily="34" charset="-122"/>
                <a:cs typeface="Inter" pitchFamily="34" charset="-120"/>
              </a:rPr>
              <a:t>eg. Giving description, detailed description, directly letting user see spec link etc. despite it being more information dense as a design solution</a:t>
            </a:r>
            <a:endParaRPr lang="en-US" sz="855" dirty="0"/>
          </a:p>
        </p:txBody>
      </p:sp>
      <p:sp>
        <p:nvSpPr>
          <p:cNvPr id="5" name="Text 2"/>
          <p:cNvSpPr/>
          <p:nvPr/>
        </p:nvSpPr>
        <p:spPr>
          <a:xfrm>
            <a:off x="366713" y="428625"/>
            <a:ext cx="3381375" cy="228600"/>
          </a:xfrm>
          <a:prstGeom prst="rect">
            <a:avLst/>
          </a:prstGeom>
          <a:noFill/>
          <a:ln/>
        </p:spPr>
        <p:txBody>
          <a:bodyPr wrap="square" lIns="0" tIns="0" rIns="0" bIns="0" rtlCol="0" anchor="b"/>
          <a:lstStyle/>
          <a:p>
            <a:pPr algn="l" indent="0" marL="0">
              <a:lnSpc>
                <a:spcPts val="1693"/>
              </a:lnSpc>
              <a:buNone/>
            </a:pPr>
            <a:r>
              <a:rPr lang="en-US" sz="1283" b="1" spc="-26" kern="0" dirty="0">
                <a:solidFill>
                  <a:srgbClr val="000000">
                    <a:alpha val="99000"/>
                  </a:srgbClr>
                </a:solidFill>
                <a:latin typeface="Inter" pitchFamily="34" charset="0"/>
                <a:ea typeface="Inter" pitchFamily="34" charset="-122"/>
                <a:cs typeface="Inter" pitchFamily="34" charset="-120"/>
              </a:rPr>
              <a:t>4 : Completeness over Simplicity</a:t>
            </a:r>
            <a:endParaRPr lang="en-US" sz="1283" dirty="0"/>
          </a:p>
        </p:txBody>
      </p:sp>
      <p:sp>
        <p:nvSpPr>
          <p:cNvPr id="6" name="Text 3"/>
          <p:cNvSpPr/>
          <p:nvPr/>
        </p:nvSpPr>
        <p:spPr>
          <a:xfrm>
            <a:off x="609600" y="771525"/>
            <a:ext cx="3381375" cy="1028700"/>
          </a:xfrm>
          <a:prstGeom prst="rect">
            <a:avLst/>
          </a:prstGeom>
          <a:noFill/>
          <a:ln/>
        </p:spPr>
        <p:txBody>
          <a:bodyPr wrap="square" lIns="0" tIns="0" rIns="0" bIns="0" rtlCol="0" anchor="t"/>
          <a:lstStyle/>
          <a:p>
            <a:pPr algn="l" indent="0" marL="0">
              <a:lnSpc>
                <a:spcPts val="2565"/>
              </a:lnSpc>
              <a:buNone/>
            </a:pPr>
            <a:r>
              <a:rPr lang="en-US" sz="2138" b="1" spc="-47" kern="0" dirty="0">
                <a:solidFill>
                  <a:srgbClr val="000000">
                    <a:alpha val="99000"/>
                  </a:srgbClr>
                </a:solidFill>
                <a:latin typeface="Inter" pitchFamily="34" charset="0"/>
                <a:ea typeface="Inter" pitchFamily="34" charset="-122"/>
                <a:cs typeface="Inter" pitchFamily="34" charset="-120"/>
              </a:rPr>
              <a:t>Favor enabling power users over simplifying for casual users. </a:t>
            </a:r>
            <a:endParaRPr lang="en-US" sz="2138" dirty="0"/>
          </a:p>
        </p:txBody>
      </p:sp>
      <p:pic>
        <p:nvPicPr>
          <p:cNvPr id="7" name="Image 0" descr="preencoded.png">    </p:cNvPr>
          <p:cNvPicPr>
            <a:picLocks noChangeAspect="1"/>
          </p:cNvPicPr>
          <p:nvPr/>
        </p:nvPicPr>
        <p:blipFill>
          <a:blip r:embed="rId1"/>
          <a:srcRect l="0" r="0" t="0" b="0"/>
          <a:stretch/>
        </p:blipFill>
        <p:spPr>
          <a:xfrm>
            <a:off x="2638425" y="2786063"/>
            <a:ext cx="5910263" cy="1933575"/>
          </a:xfrm>
          <a:prstGeom prst="rect">
            <a:avLst/>
          </a:prstGeom>
        </p:spPr>
      </p:pic>
      <p:sp>
        <p:nvSpPr>
          <p:cNvPr id="8" name="Text 4"/>
          <p:cNvSpPr/>
          <p:nvPr/>
        </p:nvSpPr>
        <p:spPr>
          <a:xfrm>
            <a:off x="4762500" y="514350"/>
            <a:ext cx="3686175" cy="1981200"/>
          </a:xfrm>
          <a:prstGeom prst="rect">
            <a:avLst/>
          </a:prstGeom>
          <a:noFill/>
          <a:ln/>
        </p:spPr>
        <p:txBody>
          <a:bodyPr wrap="square" lIns="0" tIns="0" rIns="0" bIns="0" rtlCol="0" anchor="t"/>
          <a:lstStyle/>
          <a:p>
            <a:pPr algn="l" indent="0" marL="0">
              <a:lnSpc>
                <a:spcPts val="1146"/>
              </a:lnSpc>
              <a:buNone/>
            </a:pPr>
            <a:r>
              <a:rPr lang="en-US" sz="855" b="1" spc="-4" kern="0" dirty="0">
                <a:solidFill>
                  <a:srgbClr val="000000">
                    <a:alpha val="99000"/>
                  </a:srgbClr>
                </a:solidFill>
                <a:latin typeface="Inter" pitchFamily="34" charset="0"/>
                <a:ea typeface="Inter" pitchFamily="34" charset="-122"/>
                <a:cs typeface="Inter" pitchFamily="34" charset="-120"/>
              </a:rPr>
              <a:t>How to test:</a:t>
            </a:r>
            <a:endParaRPr lang="en-US" sz="855" dirty="0"/>
          </a:p>
          <a:p>
            <a:pPr algn="l" marL="342900" indent="-342900">
              <a:lnSpc>
                <a:spcPts val="1146"/>
              </a:lnSpc>
              <a:buSzPct val="100000"/>
              <a:buChar char="•"/>
            </a:pPr>
            <a:r>
              <a:rPr lang="en-US" sz="855" b="1" spc="-4" kern="0" dirty="0">
                <a:solidFill>
                  <a:srgbClr val="000000">
                    <a:alpha val="99000"/>
                  </a:srgbClr>
                </a:solidFill>
                <a:latin typeface="Inter" pitchFamily="34" charset="0"/>
                <a:ea typeface="Inter" pitchFamily="34" charset="-122"/>
                <a:cs typeface="Inter" pitchFamily="34" charset="-120"/>
              </a:rPr>
              <a:t>are we getting power users?</a:t>
            </a:r>
            <a:endParaRPr lang="en-US" sz="855" dirty="0"/>
          </a:p>
          <a:p>
            <a:pPr algn="l" lvl="1" marL="685800" indent="-342900">
              <a:lnSpc>
                <a:spcPts val="1146"/>
              </a:lnSpc>
              <a:buSzPct val="100000"/>
              <a:buChar char="•"/>
            </a:pPr>
            <a:r>
              <a:rPr lang="en-US" sz="855" b="1" spc="-4" kern="0" dirty="0">
                <a:solidFill>
                  <a:srgbClr val="000000">
                    <a:alpha val="99000"/>
                  </a:srgbClr>
                </a:solidFill>
                <a:latin typeface="Inter" pitchFamily="34" charset="0"/>
                <a:ea typeface="Inter" pitchFamily="34" charset="-122"/>
                <a:cs typeface="Inter" pitchFamily="34" charset="-120"/>
              </a:rPr>
              <a:t>are users going for more complete or more simple functions when they are effectively the same (e.g., less / more clear descriptions)</a:t>
            </a:r>
            <a:endParaRPr lang="en-US" sz="855" dirty="0"/>
          </a:p>
          <a:p>
            <a:pPr algn="l" marL="342900" indent="-342900">
              <a:lnSpc>
                <a:spcPts val="1146"/>
              </a:lnSpc>
              <a:buSzPct val="100000"/>
              <a:buChar char="•"/>
            </a:pPr>
            <a:r>
              <a:rPr lang="en-US" sz="855" b="1" spc="-4" kern="0" dirty="0">
                <a:solidFill>
                  <a:srgbClr val="000000">
                    <a:alpha val="99000"/>
                  </a:srgbClr>
                </a:solidFill>
                <a:latin typeface="Inter" pitchFamily="34" charset="0"/>
                <a:ea typeface="Inter" pitchFamily="34" charset="-122"/>
                <a:cs typeface="Inter" pitchFamily="34" charset="-120"/>
              </a:rPr>
              <a:t>are users leveraging functionalities meant for power users?</a:t>
            </a:r>
            <a:endParaRPr lang="en-US" sz="855" dirty="0"/>
          </a:p>
          <a:p>
            <a:pPr algn="l" lvl="1" marL="685800" indent="-342900">
              <a:lnSpc>
                <a:spcPts val="1146"/>
              </a:lnSpc>
              <a:buSzPct val="100000"/>
              <a:buChar char="•"/>
            </a:pPr>
            <a:r>
              <a:rPr lang="en-US" sz="855" b="1" spc="-4" kern="0" dirty="0">
                <a:solidFill>
                  <a:srgbClr val="000000">
                    <a:alpha val="99000"/>
                  </a:srgbClr>
                </a:solidFill>
                <a:latin typeface="Inter" pitchFamily="34" charset="0"/>
                <a:ea typeface="Inter" pitchFamily="34" charset="-122"/>
                <a:cs typeface="Inter" pitchFamily="34" charset="-120"/>
              </a:rPr>
              <a:t>are they looking for information</a:t>
            </a:r>
            <a:endParaRPr lang="en-US" sz="855" dirty="0"/>
          </a:p>
          <a:p>
            <a:pPr algn="l" lvl="2" marL="1028700" indent="-342900">
              <a:lnSpc>
                <a:spcPts val="1146"/>
              </a:lnSpc>
              <a:buSzPct val="100000"/>
              <a:buChar char="•"/>
            </a:pPr>
            <a:r>
              <a:rPr lang="en-US" sz="855" b="1" spc="-4" kern="0" dirty="0">
                <a:solidFill>
                  <a:srgbClr val="000000">
                    <a:alpha val="99000"/>
                  </a:srgbClr>
                </a:solidFill>
                <a:latin typeface="Inter" pitchFamily="34" charset="0"/>
                <a:ea typeface="Inter" pitchFamily="34" charset="-122"/>
                <a:cs typeface="Inter" pitchFamily="34" charset="-120"/>
              </a:rPr>
              <a:t>architect</a:t>
            </a:r>
            <a:endParaRPr lang="en-US" sz="855" dirty="0"/>
          </a:p>
          <a:p>
            <a:pPr algn="l" lvl="2" marL="1028700" indent="-342900">
              <a:lnSpc>
                <a:spcPts val="1146"/>
              </a:lnSpc>
              <a:buSzPct val="100000"/>
              <a:buChar char="•"/>
            </a:pPr>
            <a:r>
              <a:rPr lang="en-US" sz="855" b="1" spc="-4" kern="0" dirty="0">
                <a:solidFill>
                  <a:srgbClr val="000000">
                    <a:alpha val="99000"/>
                  </a:srgbClr>
                </a:solidFill>
                <a:latin typeface="Inter" pitchFamily="34" charset="0"/>
                <a:ea typeface="Inter" pitchFamily="34" charset="-122"/>
                <a:cs typeface="Inter" pitchFamily="34" charset="-120"/>
              </a:rPr>
              <a:t>FAQ</a:t>
            </a:r>
            <a:endParaRPr lang="en-US" sz="855" dirty="0"/>
          </a:p>
          <a:p>
            <a:pPr algn="l" lvl="2" marL="1028700" indent="-342900">
              <a:lnSpc>
                <a:spcPts val="1146"/>
              </a:lnSpc>
              <a:buSzPct val="100000"/>
              <a:buChar char="•"/>
            </a:pPr>
            <a:r>
              <a:rPr lang="en-US" sz="855" b="1" spc="-4" kern="0" dirty="0">
                <a:solidFill>
                  <a:srgbClr val="000000">
                    <a:alpha val="99000"/>
                  </a:srgbClr>
                </a:solidFill>
                <a:latin typeface="Inter" pitchFamily="34" charset="0"/>
                <a:ea typeface="Inter" pitchFamily="34" charset="-122"/>
                <a:cs typeface="Inter" pitchFamily="34" charset="-120"/>
              </a:rPr>
              <a:t>spec</a:t>
            </a:r>
            <a:endParaRPr lang="en-US" sz="855" dirty="0"/>
          </a:p>
          <a:p>
            <a:pPr algn="l" lvl="1" marL="685800" indent="-342900">
              <a:lnSpc>
                <a:spcPts val="1146"/>
              </a:lnSpc>
              <a:buSzPct val="100000"/>
              <a:buChar char="•"/>
            </a:pPr>
            <a:r>
              <a:rPr lang="en-US" sz="855" b="1" spc="-4" kern="0" dirty="0">
                <a:solidFill>
                  <a:srgbClr val="000000">
                    <a:alpha val="99000"/>
                  </a:srgbClr>
                </a:solidFill>
                <a:latin typeface="Inter" pitchFamily="34" charset="0"/>
                <a:ea typeface="Inter" pitchFamily="34" charset="-122"/>
                <a:cs typeface="Inter" pitchFamily="34" charset="-120"/>
              </a:rPr>
              <a:t>are they finding what they are looking for</a:t>
            </a:r>
            <a:endParaRPr lang="en-US" sz="855" dirty="0"/>
          </a:p>
          <a:p>
            <a:pPr algn="l" lvl="2" marL="1028700" indent="-342900">
              <a:lnSpc>
                <a:spcPts val="1146"/>
              </a:lnSpc>
              <a:buSzPct val="100000"/>
              <a:buChar char="•"/>
            </a:pPr>
            <a:r>
              <a:rPr lang="en-US" sz="855" b="1" spc="-4" kern="0" dirty="0">
                <a:solidFill>
                  <a:srgbClr val="000000">
                    <a:alpha val="99000"/>
                  </a:srgbClr>
                </a:solidFill>
                <a:latin typeface="Inter" pitchFamily="34" charset="0"/>
                <a:ea typeface="Inter" pitchFamily="34" charset="-122"/>
                <a:cs typeface="Inter" pitchFamily="34" charset="-120"/>
              </a:rPr>
              <a:t>architect interaction</a:t>
            </a:r>
            <a:endParaRPr lang="en-US" sz="855" dirty="0"/>
          </a:p>
          <a:p>
            <a:pPr algn="l" lvl="2" marL="1028700" indent="-342900">
              <a:lnSpc>
                <a:spcPts val="1146"/>
              </a:lnSpc>
              <a:buSzPct val="100000"/>
              <a:buChar char="•"/>
            </a:pPr>
            <a:r>
              <a:rPr lang="en-US" sz="855" b="1" spc="-4" kern="0" dirty="0">
                <a:solidFill>
                  <a:srgbClr val="000000">
                    <a:alpha val="99000"/>
                  </a:srgbClr>
                </a:solidFill>
                <a:latin typeface="Inter" pitchFamily="34" charset="0"/>
                <a:ea typeface="Inter" pitchFamily="34" charset="-122"/>
                <a:cs typeface="Inter" pitchFamily="34" charset="-120"/>
              </a:rPr>
              <a:t>time spent / path after  FAQ / spec</a:t>
            </a:r>
            <a:endParaRPr lang="en-US" sz="855"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609600" y="3681413"/>
            <a:ext cx="3381375" cy="976312"/>
          </a:xfrm>
          <a:prstGeom prst="rect">
            <a:avLst/>
          </a:prstGeom>
          <a:noFill/>
          <a:ln/>
        </p:spPr>
        <p:txBody>
          <a:bodyPr wrap="square" lIns="0" tIns="0" rIns="0" bIns="0" rtlCol="0" anchor="b"/>
          <a:lstStyle/>
          <a:p>
            <a:pPr algn="l" indent="0" marL="0">
              <a:lnSpc>
                <a:spcPts val="1453"/>
              </a:lnSpc>
              <a:buNone/>
            </a:pPr>
            <a:r>
              <a:rPr lang="en-US" sz="1069" spc="-11" kern="0" dirty="0">
                <a:solidFill>
                  <a:srgbClr val="000000">
                    <a:alpha val="99000"/>
                  </a:srgbClr>
                </a:solidFill>
                <a:latin typeface="Inter" pitchFamily="34" charset="0"/>
                <a:ea typeface="Inter" pitchFamily="34" charset="-122"/>
                <a:cs typeface="Inter" pitchFamily="34" charset="-120"/>
              </a:rPr>
              <a:t>This is a hypothesis that the codewords team came with, that users will know what they want, the user knows how to solve problems and our job is to be a tool in their toolset, not tell them what to do.</a:t>
            </a:r>
            <a:endParaRPr lang="en-US" sz="1069" dirty="0"/>
          </a:p>
        </p:txBody>
      </p:sp>
      <p:sp>
        <p:nvSpPr>
          <p:cNvPr id="4" name="Text 1"/>
          <p:cNvSpPr/>
          <p:nvPr/>
        </p:nvSpPr>
        <p:spPr>
          <a:xfrm>
            <a:off x="433388" y="609600"/>
            <a:ext cx="3381375" cy="228600"/>
          </a:xfrm>
          <a:prstGeom prst="rect">
            <a:avLst/>
          </a:prstGeom>
          <a:noFill/>
          <a:ln/>
        </p:spPr>
        <p:txBody>
          <a:bodyPr wrap="square" lIns="0" tIns="0" rIns="0" bIns="0" rtlCol="0" anchor="b"/>
          <a:lstStyle/>
          <a:p>
            <a:pPr algn="l" indent="0" marL="0">
              <a:lnSpc>
                <a:spcPts val="1693"/>
              </a:lnSpc>
              <a:buNone/>
            </a:pPr>
            <a:r>
              <a:rPr lang="en-US" sz="1283" b="1" spc="-26" kern="0" dirty="0">
                <a:solidFill>
                  <a:srgbClr val="000000">
                    <a:alpha val="99000"/>
                  </a:srgbClr>
                </a:solidFill>
                <a:latin typeface="Inter" pitchFamily="34" charset="0"/>
                <a:ea typeface="Inter" pitchFamily="34" charset="-122"/>
                <a:cs typeface="Inter" pitchFamily="34" charset="-120"/>
              </a:rPr>
              <a:t>5: Defer to the human</a:t>
            </a:r>
            <a:endParaRPr lang="en-US" sz="1283" dirty="0"/>
          </a:p>
        </p:txBody>
      </p:sp>
      <p:sp>
        <p:nvSpPr>
          <p:cNvPr id="5" name="Text 2"/>
          <p:cNvSpPr/>
          <p:nvPr/>
        </p:nvSpPr>
        <p:spPr>
          <a:xfrm>
            <a:off x="609600" y="952500"/>
            <a:ext cx="3381375" cy="1028700"/>
          </a:xfrm>
          <a:prstGeom prst="rect">
            <a:avLst/>
          </a:prstGeom>
          <a:noFill/>
          <a:ln/>
        </p:spPr>
        <p:txBody>
          <a:bodyPr wrap="square" lIns="0" tIns="0" rIns="0" bIns="0" rtlCol="0" anchor="t"/>
          <a:lstStyle/>
          <a:p>
            <a:pPr algn="l" indent="0" marL="0">
              <a:lnSpc>
                <a:spcPts val="2565"/>
              </a:lnSpc>
              <a:buNone/>
            </a:pPr>
            <a:r>
              <a:rPr lang="en-US" sz="2138" b="1" spc="-47" kern="0" dirty="0">
                <a:solidFill>
                  <a:srgbClr val="000000">
                    <a:alpha val="99000"/>
                  </a:srgbClr>
                </a:solidFill>
                <a:latin typeface="Inter" pitchFamily="34" charset="0"/>
                <a:ea typeface="Inter" pitchFamily="34" charset="-122"/>
                <a:cs typeface="Inter" pitchFamily="34" charset="-120"/>
              </a:rPr>
              <a:t>We will look to the user for confirmation on  the AI’s work</a:t>
            </a:r>
            <a:endParaRPr lang="en-US" sz="2138" dirty="0"/>
          </a:p>
        </p:txBody>
      </p:sp>
      <p:sp>
        <p:nvSpPr>
          <p:cNvPr id="6" name="Text 3"/>
          <p:cNvSpPr/>
          <p:nvPr/>
        </p:nvSpPr>
        <p:spPr>
          <a:xfrm>
            <a:off x="4976813" y="771525"/>
            <a:ext cx="3686175" cy="2590800"/>
          </a:xfrm>
          <a:prstGeom prst="rect">
            <a:avLst/>
          </a:prstGeom>
          <a:noFill/>
          <a:ln/>
        </p:spPr>
        <p:txBody>
          <a:bodyPr wrap="square" lIns="0" tIns="0" rIns="0" bIns="0" rtlCol="0" anchor="t"/>
          <a:lstStyle/>
          <a:p>
            <a:pPr algn="l" indent="0" marL="0">
              <a:lnSpc>
                <a:spcPts val="1146"/>
              </a:lnSpc>
              <a:buNone/>
            </a:pPr>
            <a:r>
              <a:rPr lang="en-US" sz="855" b="1" spc="-4" kern="0" dirty="0">
                <a:solidFill>
                  <a:srgbClr val="000000">
                    <a:alpha val="99000"/>
                  </a:srgbClr>
                </a:solidFill>
                <a:latin typeface="Inter" pitchFamily="34" charset="0"/>
                <a:ea typeface="Inter" pitchFamily="34" charset="-122"/>
                <a:cs typeface="Inter" pitchFamily="34" charset="-120"/>
              </a:rPr>
              <a:t>How to test:</a:t>
            </a:r>
            <a:endParaRPr lang="en-US" sz="855" dirty="0"/>
          </a:p>
          <a:p>
            <a:pPr algn="l" marL="342900" indent="-342900">
              <a:lnSpc>
                <a:spcPts val="1146"/>
              </a:lnSpc>
              <a:buSzPct val="100000"/>
              <a:buChar char="•"/>
            </a:pPr>
            <a:r>
              <a:rPr lang="en-US" sz="855" b="1" spc="-4" kern="0" dirty="0">
                <a:solidFill>
                  <a:srgbClr val="000000">
                    <a:alpha val="99000"/>
                  </a:srgbClr>
                </a:solidFill>
                <a:latin typeface="Inter" pitchFamily="34" charset="0"/>
                <a:ea typeface="Inter" pitchFamily="34" charset="-122"/>
                <a:cs typeface="Inter" pitchFamily="34" charset="-120"/>
              </a:rPr>
              <a:t>What percentage users accept the AI made prompts directly?</a:t>
            </a:r>
            <a:endParaRPr lang="en-US" sz="855" dirty="0"/>
          </a:p>
          <a:p>
            <a:pPr algn="l" lvl="1" marL="685800" indent="-342900">
              <a:lnSpc>
                <a:spcPts val="1146"/>
              </a:lnSpc>
              <a:buSzPct val="100000"/>
              <a:buChar char="•"/>
            </a:pPr>
            <a:r>
              <a:rPr lang="en-US" sz="855" b="1" spc="-4" kern="0" dirty="0">
                <a:solidFill>
                  <a:srgbClr val="000000">
                    <a:alpha val="99000"/>
                  </a:srgbClr>
                </a:solidFill>
                <a:latin typeface="Inter" pitchFamily="34" charset="0"/>
                <a:ea typeface="Inter" pitchFamily="34" charset="-122"/>
                <a:cs typeface="Inter" pitchFamily="34" charset="-120"/>
              </a:rPr>
              <a:t>How is this behaviour evolving over the life cycle of user? Are they more or less likely to make changes to the spec as time passes. </a:t>
            </a:r>
            <a:endParaRPr lang="en-US" sz="855" dirty="0"/>
          </a:p>
          <a:p>
            <a:pPr algn="l" lvl="1" marL="685800" indent="-342900">
              <a:lnSpc>
                <a:spcPts val="1146"/>
              </a:lnSpc>
              <a:buSzPct val="100000"/>
              <a:buChar char="•"/>
            </a:pPr>
            <a:r>
              <a:rPr lang="en-US" sz="855" b="1" spc="-4" kern="0" dirty="0">
                <a:solidFill>
                  <a:srgbClr val="000000">
                    <a:alpha val="99000"/>
                  </a:srgbClr>
                </a:solidFill>
                <a:latin typeface="Inter" pitchFamily="34" charset="0"/>
                <a:ea typeface="Inter" pitchFamily="34" charset="-122"/>
                <a:cs typeface="Inter" pitchFamily="34" charset="-120"/>
              </a:rPr>
              <a:t>do they seem satisfied with them? (do they send more queries after / do they redo the prompt / do they end up remixing the prompt or starting again when they select AI prompted refines, and what percentage)</a:t>
            </a:r>
            <a:endParaRPr lang="en-US" sz="855" dirty="0"/>
          </a:p>
          <a:p>
            <a:pPr algn="l" marL="342900" indent="-342900">
              <a:lnSpc>
                <a:spcPts val="1146"/>
              </a:lnSpc>
              <a:buSzPct val="100000"/>
              <a:buChar char="•"/>
            </a:pPr>
            <a:r>
              <a:rPr lang="en-US" sz="855" b="1" spc="-4" kern="0" dirty="0">
                <a:solidFill>
                  <a:srgbClr val="000000">
                    <a:alpha val="99000"/>
                  </a:srgbClr>
                </a:solidFill>
                <a:latin typeface="Inter" pitchFamily="34" charset="0"/>
                <a:ea typeface="Inter" pitchFamily="34" charset="-122"/>
                <a:cs typeface="Inter" pitchFamily="34" charset="-120"/>
              </a:rPr>
              <a:t>are users being able to complete their tasks?</a:t>
            </a:r>
            <a:endParaRPr lang="en-US" sz="855" dirty="0"/>
          </a:p>
          <a:p>
            <a:pPr algn="l" lvl="1" marL="685800" indent="-342900">
              <a:lnSpc>
                <a:spcPts val="1146"/>
              </a:lnSpc>
              <a:buSzPct val="100000"/>
              <a:buChar char="•"/>
            </a:pPr>
            <a:r>
              <a:rPr lang="en-US" sz="855" b="1" spc="-4" kern="0" dirty="0">
                <a:solidFill>
                  <a:srgbClr val="000000">
                    <a:alpha val="99000"/>
                  </a:srgbClr>
                </a:solidFill>
                <a:latin typeface="Inter" pitchFamily="34" charset="0"/>
                <a:ea typeface="Inter" pitchFamily="34" charset="-122"/>
                <a:cs typeface="Inter" pitchFamily="34" charset="-120"/>
              </a:rPr>
              <a:t>tasks: </a:t>
            </a:r>
            <a:endParaRPr lang="en-US" sz="855" dirty="0"/>
          </a:p>
          <a:p>
            <a:pPr algn="l" lvl="2" marL="1028700" indent="-342900">
              <a:lnSpc>
                <a:spcPts val="1146"/>
              </a:lnSpc>
              <a:buSzPct val="100000"/>
              <a:buChar char="•"/>
            </a:pPr>
            <a:r>
              <a:rPr lang="en-US" sz="855" b="1" spc="-4" kern="0" dirty="0">
                <a:solidFill>
                  <a:srgbClr val="000000">
                    <a:alpha val="99000"/>
                  </a:srgbClr>
                </a:solidFill>
                <a:latin typeface="Inter" pitchFamily="34" charset="0"/>
                <a:ea typeface="Inter" pitchFamily="34" charset="-122"/>
                <a:cs typeface="Inter" pitchFamily="34" charset="-120"/>
              </a:rPr>
              <a:t>completion of new function creation</a:t>
            </a:r>
            <a:endParaRPr lang="en-US" sz="855" dirty="0"/>
          </a:p>
          <a:p>
            <a:pPr algn="l" lvl="2" marL="1028700" indent="-342900">
              <a:lnSpc>
                <a:spcPts val="1146"/>
              </a:lnSpc>
              <a:buSzPct val="100000"/>
              <a:buChar char="•"/>
            </a:pPr>
            <a:r>
              <a:rPr lang="en-US" sz="855" b="1" spc="-4" kern="0" dirty="0">
                <a:solidFill>
                  <a:srgbClr val="000000">
                    <a:alpha val="99000"/>
                  </a:srgbClr>
                </a:solidFill>
                <a:latin typeface="Inter" pitchFamily="34" charset="0"/>
                <a:ea typeface="Inter" pitchFamily="34" charset="-122"/>
                <a:cs typeface="Inter" pitchFamily="34" charset="-120"/>
              </a:rPr>
              <a:t>usage of functions </a:t>
            </a:r>
            <a:endParaRPr lang="en-US" sz="855" dirty="0"/>
          </a:p>
          <a:p>
            <a:pPr algn="l" lvl="1" marL="685800" indent="-342900">
              <a:lnSpc>
                <a:spcPts val="1146"/>
              </a:lnSpc>
              <a:buSzPct val="100000"/>
              <a:buChar char="•"/>
            </a:pPr>
            <a:r>
              <a:rPr lang="en-US" sz="855" b="1" spc="-4" kern="0" dirty="0">
                <a:solidFill>
                  <a:srgbClr val="000000">
                    <a:alpha val="99000"/>
                  </a:srgbClr>
                </a:solidFill>
                <a:latin typeface="Inter" pitchFamily="34" charset="0"/>
                <a:ea typeface="Inter" pitchFamily="34" charset="-122"/>
                <a:cs typeface="Inter" pitchFamily="34" charset="-120"/>
              </a:rPr>
              <a:t>components </a:t>
            </a:r>
            <a:endParaRPr lang="en-US" sz="855" dirty="0"/>
          </a:p>
          <a:p>
            <a:pPr algn="l" lvl="2" marL="1028700" indent="-342900">
              <a:lnSpc>
                <a:spcPts val="1146"/>
              </a:lnSpc>
              <a:buSzPct val="100000"/>
              <a:buChar char="•"/>
            </a:pPr>
            <a:r>
              <a:rPr lang="en-US" sz="855" b="1" spc="-4" kern="0" dirty="0">
                <a:solidFill>
                  <a:srgbClr val="000000">
                    <a:alpha val="99000"/>
                  </a:srgbClr>
                </a:solidFill>
                <a:latin typeface="Inter" pitchFamily="34" charset="0"/>
                <a:ea typeface="Inter" pitchFamily="34" charset="-122"/>
                <a:cs typeface="Inter" pitchFamily="34" charset="-120"/>
              </a:rPr>
              <a:t>amount of AI assistance </a:t>
            </a:r>
            <a:endParaRPr lang="en-US" sz="855" dirty="0"/>
          </a:p>
          <a:p>
            <a:pPr algn="l" lvl="2" marL="1028700" indent="-342900">
              <a:lnSpc>
                <a:spcPts val="1146"/>
              </a:lnSpc>
              <a:buSzPct val="100000"/>
              <a:buChar char="•"/>
            </a:pPr>
            <a:r>
              <a:rPr lang="en-US" sz="855" b="1" spc="-4" kern="0" dirty="0">
                <a:solidFill>
                  <a:srgbClr val="000000">
                    <a:alpha val="99000"/>
                  </a:srgbClr>
                </a:solidFill>
                <a:latin typeface="Inter" pitchFamily="34" charset="0"/>
                <a:ea typeface="Inter" pitchFamily="34" charset="-122"/>
                <a:cs typeface="Inter" pitchFamily="34" charset="-120"/>
              </a:rPr>
              <a:t>type of interaction (asking for details, etc.)</a:t>
            </a:r>
            <a:endParaRPr lang="en-US" sz="855"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09600" y="3752850"/>
            <a:ext cx="3381375" cy="781050"/>
          </a:xfrm>
          <a:prstGeom prst="rect">
            <a:avLst/>
          </a:prstGeom>
          <a:noFill/>
          <a:ln/>
        </p:spPr>
        <p:txBody>
          <a:bodyPr wrap="square" lIns="0" tIns="0" rIns="0" bIns="0" rtlCol="0" anchor="b"/>
          <a:lstStyle/>
          <a:p>
            <a:pPr algn="l" indent="0" marL="0">
              <a:lnSpc>
                <a:spcPts val="1453"/>
              </a:lnSpc>
              <a:buNone/>
            </a:pPr>
            <a:r>
              <a:rPr lang="en-US" sz="1069" spc="-11" kern="0" dirty="0">
                <a:solidFill>
                  <a:srgbClr val="000000">
                    <a:alpha val="99000"/>
                  </a:srgbClr>
                </a:solidFill>
                <a:latin typeface="Inter" pitchFamily="34" charset="0"/>
                <a:ea typeface="Inter" pitchFamily="34" charset="-122"/>
                <a:cs typeface="Inter" pitchFamily="34" charset="-120"/>
              </a:rPr>
              <a:t>This hypothesis is about having the function creation process as iterative rather than “one and done”. Hence spec and reworking with spec are both given appropriate space.</a:t>
            </a:r>
            <a:endParaRPr lang="en-US" sz="1069" dirty="0"/>
          </a:p>
        </p:txBody>
      </p:sp>
      <p:sp>
        <p:nvSpPr>
          <p:cNvPr id="3" name="Text 1"/>
          <p:cNvSpPr/>
          <p:nvPr/>
        </p:nvSpPr>
        <p:spPr>
          <a:xfrm>
            <a:off x="404813" y="238125"/>
            <a:ext cx="3381375" cy="228600"/>
          </a:xfrm>
          <a:prstGeom prst="rect">
            <a:avLst/>
          </a:prstGeom>
          <a:noFill/>
          <a:ln/>
        </p:spPr>
        <p:txBody>
          <a:bodyPr wrap="square" lIns="0" tIns="0" rIns="0" bIns="0" rtlCol="0" anchor="b"/>
          <a:lstStyle/>
          <a:p>
            <a:pPr algn="l" indent="0" marL="0">
              <a:lnSpc>
                <a:spcPts val="1693"/>
              </a:lnSpc>
              <a:buNone/>
            </a:pPr>
            <a:r>
              <a:rPr lang="en-US" sz="1283" b="1" spc="-26" kern="0" dirty="0">
                <a:solidFill>
                  <a:srgbClr val="000000">
                    <a:alpha val="99000"/>
                  </a:srgbClr>
                </a:solidFill>
                <a:latin typeface="Inter" pitchFamily="34" charset="0"/>
                <a:ea typeface="Inter" pitchFamily="34" charset="-122"/>
                <a:cs typeface="Inter" pitchFamily="34" charset="-120"/>
              </a:rPr>
              <a:t>6: Draft state matters</a:t>
            </a:r>
            <a:endParaRPr lang="en-US" sz="1283" dirty="0"/>
          </a:p>
        </p:txBody>
      </p:sp>
      <p:sp>
        <p:nvSpPr>
          <p:cNvPr id="4" name="Text 2"/>
          <p:cNvSpPr/>
          <p:nvPr/>
        </p:nvSpPr>
        <p:spPr>
          <a:xfrm>
            <a:off x="609600" y="581025"/>
            <a:ext cx="3381375" cy="2057400"/>
          </a:xfrm>
          <a:prstGeom prst="rect">
            <a:avLst/>
          </a:prstGeom>
          <a:noFill/>
          <a:ln/>
        </p:spPr>
        <p:txBody>
          <a:bodyPr wrap="square" lIns="0" tIns="0" rIns="0" bIns="0" rtlCol="0" anchor="t"/>
          <a:lstStyle/>
          <a:p>
            <a:pPr algn="l" indent="0" marL="0">
              <a:lnSpc>
                <a:spcPts val="2565"/>
              </a:lnSpc>
              <a:buNone/>
            </a:pPr>
            <a:r>
              <a:rPr lang="en-US" sz="2138" b="1" spc="-47" kern="0" dirty="0">
                <a:solidFill>
                  <a:srgbClr val="000000">
                    <a:alpha val="99000"/>
                  </a:srgbClr>
                </a:solidFill>
                <a:latin typeface="Inter" pitchFamily="34" charset="0"/>
                <a:ea typeface="Inter" pitchFamily="34" charset="-122"/>
                <a:cs typeface="Inter" pitchFamily="34" charset="-120"/>
              </a:rPr>
              <a:t>Ideas rarely show up fully formulated. The drafting process necessitates space for feedback and refinement.</a:t>
            </a:r>
            <a:endParaRPr lang="en-US" sz="2138" dirty="0"/>
          </a:p>
        </p:txBody>
      </p:sp>
      <p:sp>
        <p:nvSpPr>
          <p:cNvPr id="5" name="Text 3"/>
          <p:cNvSpPr/>
          <p:nvPr/>
        </p:nvSpPr>
        <p:spPr>
          <a:xfrm>
            <a:off x="5053013" y="414338"/>
            <a:ext cx="3505200" cy="1671638"/>
          </a:xfrm>
          <a:prstGeom prst="rect">
            <a:avLst/>
          </a:prstGeom>
          <a:noFill/>
          <a:ln/>
        </p:spPr>
        <p:txBody>
          <a:bodyPr wrap="square" lIns="0" tIns="0" rIns="0" bIns="0" rtlCol="0" anchor="b"/>
          <a:lstStyle/>
          <a:p>
            <a:pPr algn="l" indent="0" marL="0">
              <a:lnSpc>
                <a:spcPts val="955"/>
              </a:lnSpc>
              <a:buNone/>
            </a:pPr>
            <a:r>
              <a:rPr lang="en-US" sz="713" b="1" spc="-4" kern="0" dirty="0">
                <a:solidFill>
                  <a:srgbClr val="000000">
                    <a:alpha val="99000"/>
                  </a:srgbClr>
                </a:solidFill>
                <a:latin typeface="Inter" pitchFamily="34" charset="0"/>
                <a:ea typeface="Inter" pitchFamily="34" charset="-122"/>
                <a:cs typeface="Inter" pitchFamily="34" charset="-120"/>
              </a:rPr>
              <a:t>How to test:</a:t>
            </a:r>
            <a:endParaRPr lang="en-US" sz="713" dirty="0"/>
          </a:p>
          <a:p>
            <a:pPr algn="l" marL="342900" indent="-342900">
              <a:lnSpc>
                <a:spcPts val="955"/>
              </a:lnSpc>
              <a:buSzPct val="100000"/>
              <a:buChar char="•"/>
            </a:pPr>
            <a:r>
              <a:rPr lang="en-US" sz="713" b="1" spc="-4" kern="0" dirty="0">
                <a:solidFill>
                  <a:srgbClr val="000000">
                    <a:alpha val="99000"/>
                  </a:srgbClr>
                </a:solidFill>
                <a:latin typeface="Inter" pitchFamily="34" charset="0"/>
                <a:ea typeface="Inter" pitchFamily="34" charset="-122"/>
                <a:cs typeface="Inter" pitchFamily="34" charset="-120"/>
              </a:rPr>
              <a:t>are users making more than one version of the function?</a:t>
            </a:r>
            <a:endParaRPr lang="en-US" sz="713" dirty="0"/>
          </a:p>
          <a:p>
            <a:pPr algn="l" lvl="1" marL="685800" indent="-342900">
              <a:lnSpc>
                <a:spcPts val="955"/>
              </a:lnSpc>
              <a:buSzPct val="100000"/>
              <a:buChar char="•"/>
            </a:pPr>
            <a:r>
              <a:rPr lang="en-US" sz="713" b="1" spc="-4" kern="0" dirty="0">
                <a:solidFill>
                  <a:srgbClr val="000000">
                    <a:alpha val="99000"/>
                  </a:srgbClr>
                </a:solidFill>
                <a:latin typeface="Inter" pitchFamily="34" charset="0"/>
                <a:ea typeface="Inter" pitchFamily="34" charset="-122"/>
                <a:cs typeface="Inter" pitchFamily="34" charset="-120"/>
              </a:rPr>
              <a:t>are they making  changes to the prompts / refining with architect and then making the function (this would indicate they are refining the function for the same purpose)</a:t>
            </a:r>
            <a:endParaRPr lang="en-US" sz="713" dirty="0"/>
          </a:p>
          <a:p>
            <a:pPr algn="l" marL="342900" indent="-342900">
              <a:lnSpc>
                <a:spcPts val="955"/>
              </a:lnSpc>
              <a:buSzPct val="100000"/>
              <a:buChar char="•"/>
            </a:pPr>
            <a:r>
              <a:rPr lang="en-US" sz="713" b="1" spc="-4" kern="0" dirty="0">
                <a:solidFill>
                  <a:srgbClr val="000000">
                    <a:alpha val="99000"/>
                  </a:srgbClr>
                </a:solidFill>
                <a:latin typeface="Inter" pitchFamily="34" charset="0"/>
                <a:ea typeface="Inter" pitchFamily="34" charset="-122"/>
                <a:cs typeface="Inter" pitchFamily="34" charset="-120"/>
              </a:rPr>
              <a:t>are they dropping off without using the function or using for what seems only a test use case</a:t>
            </a:r>
            <a:endParaRPr lang="en-US" sz="713" dirty="0"/>
          </a:p>
          <a:p>
            <a:pPr algn="l" lvl="1" marL="685800" indent="-342900">
              <a:lnSpc>
                <a:spcPts val="955"/>
              </a:lnSpc>
              <a:buSzPct val="100000"/>
              <a:buChar char="•"/>
            </a:pPr>
            <a:r>
              <a:rPr lang="en-US" sz="713" b="1" spc="-4" kern="0" dirty="0">
                <a:solidFill>
                  <a:srgbClr val="000000">
                    <a:alpha val="99000"/>
                  </a:srgbClr>
                </a:solidFill>
                <a:latin typeface="Inter" pitchFamily="34" charset="0"/>
                <a:ea typeface="Inter" pitchFamily="34" charset="-122"/>
                <a:cs typeface="Inter" pitchFamily="34" charset="-120"/>
              </a:rPr>
              <a:t>this would indicate they are not being able to make a function that met their specifications(so average function run count should be &gt;1 on non error functions)</a:t>
            </a:r>
            <a:endParaRPr lang="en-US" sz="713" dirty="0"/>
          </a:p>
          <a:p>
            <a:pPr algn="l" marL="342900" indent="-342900">
              <a:lnSpc>
                <a:spcPts val="955"/>
              </a:lnSpc>
              <a:buSzPct val="100000"/>
              <a:buChar char="•"/>
            </a:pPr>
            <a:r>
              <a:rPr lang="en-US" sz="713" b="1" spc="-4" kern="0" dirty="0">
                <a:solidFill>
                  <a:srgbClr val="000000">
                    <a:alpha val="99000"/>
                  </a:srgbClr>
                </a:solidFill>
                <a:latin typeface="Inter" pitchFamily="34" charset="0"/>
                <a:ea typeface="Inter" pitchFamily="34" charset="-122"/>
                <a:cs typeface="Inter" pitchFamily="34" charset="-120"/>
              </a:rPr>
              <a:t>are they asking questions to the architect that indicate refinement?</a:t>
            </a:r>
            <a:endParaRPr lang="en-US" sz="713" dirty="0"/>
          </a:p>
          <a:p>
            <a:pPr algn="l" lvl="1" marL="685800" indent="-342900">
              <a:lnSpc>
                <a:spcPts val="955"/>
              </a:lnSpc>
              <a:buSzPct val="100000"/>
              <a:buChar char="•"/>
            </a:pPr>
            <a:r>
              <a:rPr lang="en-US" sz="713" b="1" spc="-4" kern="0" dirty="0">
                <a:solidFill>
                  <a:srgbClr val="000000">
                    <a:alpha val="99000"/>
                  </a:srgbClr>
                </a:solidFill>
                <a:latin typeface="Inter" pitchFamily="34" charset="0"/>
                <a:ea typeface="Inter" pitchFamily="34" charset="-122"/>
                <a:cs typeface="Inter" pitchFamily="34" charset="-120"/>
              </a:rPr>
              <a:t>can we get a  report from the architect on the sentiment of queries that were put to it? (e.g., refinement, clarifying, explanatory, etc.)</a:t>
            </a:r>
            <a:endParaRPr lang="en-US" sz="713" dirty="0"/>
          </a:p>
        </p:txBody>
      </p:sp>
      <p:sp>
        <p:nvSpPr>
          <p:cNvPr id="6" name="Text 4"/>
          <p:cNvSpPr/>
          <p:nvPr/>
        </p:nvSpPr>
        <p:spPr>
          <a:xfrm>
            <a:off x="4119562" y="3906293"/>
            <a:ext cx="766283" cy="870777"/>
          </a:xfrm>
          <a:prstGeom prst="roundRect">
            <a:avLst>
              <a:gd name="adj" fmla="val 7160"/>
            </a:avLst>
          </a:prstGeom>
          <a:solidFill>
            <a:srgbClr val="E4CCFF"/>
          </a:solidFill>
          <a:ln/>
        </p:spPr>
        <p:txBody>
          <a:bodyPr wrap="square" rtlCol="0" anchor="ctr"/>
          <a:lstStyle/>
          <a:p>
            <a:pPr indent="0" marL="0">
              <a:buNone/>
            </a:pPr>
            <a:r>
              <a:rPr lang="en-US" dirty="0">
                <a:solidFill>
                  <a:srgbClr val="000000"/>
                </a:solidFill>
              </a:rPr>
              <a:t>Curiousity </a:t>
            </a:r>
            <a:endParaRPr lang="en-US" dirty="0"/>
          </a:p>
          <a:p>
            <a:pPr indent="0" marL="0">
              <a:buNone/>
            </a:pPr>
            <a:r>
              <a:rPr lang="en-US" dirty="0">
                <a:solidFill>
                  <a:srgbClr val="000000"/>
                </a:solidFill>
              </a:rPr>
              <a:t>Low intent for product </a:t>
            </a:r>
            <a:endParaRPr lang="en-US" dirty="0"/>
          </a:p>
          <a:p>
            <a:pPr indent="0" marL="0">
              <a:buNone/>
            </a:pPr>
            <a:r>
              <a:rPr lang="en-US" dirty="0">
                <a:solidFill>
                  <a:srgbClr val="000000"/>
                </a:solidFill>
              </a:rPr>
              <a:t> journey question : </a:t>
            </a:r>
            <a:endParaRPr lang="en-US" dirty="0"/>
          </a:p>
          <a:p>
            <a:pPr indent="0" marL="0">
              <a:buNone/>
            </a:pPr>
            <a:r>
              <a:rPr lang="en-US" dirty="0">
                <a:solidFill>
                  <a:srgbClr val="000000"/>
                </a:solidFill>
              </a:rPr>
              <a:t>What does this do?</a:t>
            </a:r>
            <a:endParaRPr lang="en-US" dirty="0"/>
          </a:p>
        </p:txBody>
      </p:sp>
      <p:sp>
        <p:nvSpPr>
          <p:cNvPr id="7" name="Text 5"/>
          <p:cNvSpPr/>
          <p:nvPr/>
        </p:nvSpPr>
        <p:spPr>
          <a:xfrm>
            <a:off x="5826286" y="3801799"/>
            <a:ext cx="766283" cy="1079763"/>
          </a:xfrm>
          <a:prstGeom prst="roundRect">
            <a:avLst>
              <a:gd name="adj" fmla="val 7160"/>
            </a:avLst>
          </a:prstGeom>
          <a:solidFill>
            <a:srgbClr val="E4CCFF"/>
          </a:solidFill>
          <a:ln/>
        </p:spPr>
        <p:txBody>
          <a:bodyPr wrap="square" rtlCol="0" anchor="ctr"/>
          <a:lstStyle/>
          <a:p>
            <a:pPr indent="0" marL="0">
              <a:buNone/>
            </a:pPr>
            <a:r>
              <a:rPr lang="en-US" dirty="0">
                <a:solidFill>
                  <a:srgbClr val="000000"/>
                </a:solidFill>
              </a:rPr>
              <a:t>Aspirational / Hope for Solution / Intent-Based Curiosity</a:t>
            </a:r>
            <a:endParaRPr lang="en-US" dirty="0"/>
          </a:p>
          <a:p>
            <a:pPr indent="0" marL="0">
              <a:buNone/>
            </a:pPr>
            <a:endParaRPr lang="en-US" dirty="0"/>
          </a:p>
          <a:p>
            <a:pPr indent="0" marL="0">
              <a:buNone/>
            </a:pPr>
            <a:r>
              <a:rPr lang="en-US" dirty="0">
                <a:solidFill>
                  <a:srgbClr val="000000"/>
                </a:solidFill>
              </a:rPr>
              <a:t>journey question: When and how can this do something for me?</a:t>
            </a:r>
            <a:endParaRPr lang="en-US" dirty="0"/>
          </a:p>
        </p:txBody>
      </p:sp>
      <p:pic>
        <p:nvPicPr>
          <p:cNvPr id="8" name="Image 0" descr="preencoded.png">    </p:cNvPr>
          <p:cNvPicPr>
            <a:picLocks noChangeAspect="1"/>
          </p:cNvPicPr>
          <p:nvPr/>
        </p:nvPicPr>
        <p:blipFill>
          <a:blip r:embed="rId1"/>
          <a:srcRect l="0" r="0" t="0" b="0"/>
          <a:stretch/>
        </p:blipFill>
        <p:spPr>
          <a:xfrm>
            <a:off x="4923946" y="4341682"/>
            <a:ext cx="880909" cy="140283"/>
          </a:xfrm>
          <a:prstGeom prst="rect">
            <a:avLst/>
          </a:prstGeom>
        </p:spPr>
      </p:pic>
      <p:sp>
        <p:nvSpPr>
          <p:cNvPr id="9" name="Text 6"/>
          <p:cNvSpPr/>
          <p:nvPr/>
        </p:nvSpPr>
        <p:spPr>
          <a:xfrm>
            <a:off x="7768117" y="3801799"/>
            <a:ext cx="766283" cy="1079763"/>
          </a:xfrm>
          <a:prstGeom prst="roundRect">
            <a:avLst>
              <a:gd name="adj" fmla="val 7160"/>
            </a:avLst>
          </a:prstGeom>
          <a:solidFill>
            <a:srgbClr val="E4CCFF"/>
          </a:solidFill>
          <a:ln/>
        </p:spPr>
        <p:txBody>
          <a:bodyPr wrap="square" rtlCol="0" anchor="ctr"/>
          <a:lstStyle/>
          <a:p>
            <a:pPr indent="0" marL="0">
              <a:buNone/>
            </a:pPr>
            <a:r>
              <a:rPr lang="en-US" dirty="0">
                <a:solidFill>
                  <a:srgbClr val="000000"/>
                </a:solidFill>
              </a:rPr>
              <a:t>high intent : Problem solving</a:t>
            </a:r>
            <a:endParaRPr lang="en-US" dirty="0"/>
          </a:p>
          <a:p>
            <a:pPr indent="0" marL="0">
              <a:buNone/>
            </a:pPr>
            <a:endParaRPr lang="en-US" dirty="0"/>
          </a:p>
          <a:p>
            <a:pPr indent="0" marL="0">
              <a:buNone/>
            </a:pPr>
            <a:r>
              <a:rPr lang="en-US" dirty="0">
                <a:solidFill>
                  <a:srgbClr val="000000"/>
                </a:solidFill>
              </a:rPr>
              <a:t>journey question </a:t>
            </a:r>
            <a:endParaRPr lang="en-US" dirty="0"/>
          </a:p>
          <a:p>
            <a:pPr indent="0" marL="0">
              <a:buNone/>
            </a:pPr>
            <a:r>
              <a:rPr lang="en-US" dirty="0">
                <a:solidFill>
                  <a:srgbClr val="000000"/>
                </a:solidFill>
              </a:rPr>
              <a:t>What of my problems can be consistently solved by this system</a:t>
            </a:r>
            <a:endParaRPr lang="en-US" dirty="0"/>
          </a:p>
        </p:txBody>
      </p:sp>
      <p:pic>
        <p:nvPicPr>
          <p:cNvPr id="10" name="Image 1" descr="preencoded.png">    </p:cNvPr>
          <p:cNvPicPr>
            <a:picLocks noChangeAspect="1"/>
          </p:cNvPicPr>
          <p:nvPr/>
        </p:nvPicPr>
        <p:blipFill>
          <a:blip r:embed="rId2"/>
          <a:srcRect l="0" r="0" t="0" b="0"/>
          <a:stretch/>
        </p:blipFill>
        <p:spPr>
          <a:xfrm>
            <a:off x="6630674" y="4341682"/>
            <a:ext cx="1116016" cy="140283"/>
          </a:xfrm>
          <a:prstGeom prst="rect">
            <a:avLst/>
          </a:prstGeom>
        </p:spPr>
      </p:pic>
      <p:pic>
        <p:nvPicPr>
          <p:cNvPr id="11" name="Image 2" descr="preencoded.png">    </p:cNvPr>
          <p:cNvPicPr>
            <a:picLocks noChangeAspect="1"/>
          </p:cNvPicPr>
          <p:nvPr/>
        </p:nvPicPr>
        <p:blipFill>
          <a:blip r:embed="rId3"/>
          <a:srcRect l="0" r="0" t="0" b="0"/>
          <a:stretch/>
        </p:blipFill>
        <p:spPr>
          <a:xfrm>
            <a:off x="4502707" y="4815169"/>
            <a:ext cx="3728219" cy="325948"/>
          </a:xfrm>
          <a:prstGeom prst="rect">
            <a:avLst/>
          </a:prstGeom>
        </p:spPr>
      </p:pic>
      <p:sp>
        <p:nvSpPr>
          <p:cNvPr id="12" name="Text 7"/>
          <p:cNvSpPr/>
          <p:nvPr/>
        </p:nvSpPr>
        <p:spPr>
          <a:xfrm>
            <a:off x="4141333" y="2887484"/>
            <a:ext cx="853361" cy="942975"/>
          </a:xfrm>
          <a:prstGeom prst="rect">
            <a:avLst/>
          </a:prstGeom>
          <a:noFill/>
          <a:ln/>
        </p:spPr>
        <p:txBody>
          <a:bodyPr wrap="square" lIns="0" tIns="0" rIns="0" bIns="0" rtlCol="0" anchor="t"/>
          <a:lstStyle/>
          <a:p>
            <a:pPr algn="l" indent="0" marL="0">
              <a:lnSpc>
                <a:spcPts val="782"/>
              </a:lnSpc>
              <a:buNone/>
            </a:pPr>
            <a:r>
              <a:rPr lang="en-US" sz="521" spc="-6" kern="0" dirty="0">
                <a:solidFill>
                  <a:srgbClr val="000000">
                    <a:alpha val="99000"/>
                  </a:srgbClr>
                </a:solidFill>
                <a:latin typeface="Inter" pitchFamily="34" charset="0"/>
                <a:ea typeface="Inter" pitchFamily="34" charset="-122"/>
                <a:cs typeface="Inter" pitchFamily="34" charset="-120"/>
              </a:rPr>
              <a:t>Note, some users  may be able to do this very fast - they quickly understand the system capabilities and are able to start thinking about how their needs may be solved. Q:What actions can we give them at that point?</a:t>
            </a:r>
            <a:endParaRPr lang="en-US" sz="521" dirty="0"/>
          </a:p>
        </p:txBody>
      </p:sp>
      <p:sp>
        <p:nvSpPr>
          <p:cNvPr id="13" name="Text 8"/>
          <p:cNvSpPr/>
          <p:nvPr/>
        </p:nvSpPr>
        <p:spPr>
          <a:xfrm>
            <a:off x="5077416" y="2195217"/>
            <a:ext cx="3456983" cy="1532567"/>
          </a:xfrm>
          <a:prstGeom prst="roundRect">
            <a:avLst>
              <a:gd name="adj" fmla="val 3580"/>
            </a:avLst>
          </a:prstGeom>
          <a:solidFill>
            <a:srgbClr val="E4CCFF"/>
          </a:solidFill>
          <a:ln/>
        </p:spPr>
        <p:txBody>
          <a:bodyPr wrap="square" rtlCol="0" anchor="ctr"/>
          <a:lstStyle/>
          <a:p>
            <a:pPr indent="0" marL="0">
              <a:buNone/>
            </a:pPr>
            <a:r>
              <a:rPr lang="en-US" dirty="0">
                <a:solidFill>
                  <a:srgbClr val="000000"/>
                </a:solidFill>
              </a:rPr>
              <a:t>What does this “middle step” need to accomplish?</a:t>
            </a:r>
            <a:endParaRPr lang="en-US" dirty="0"/>
          </a:p>
          <a:p>
            <a:pPr indent="0" marL="0">
              <a:buNone/>
            </a:pPr>
            <a:r>
              <a:rPr lang="en-US" dirty="0">
                <a:solidFill>
                  <a:srgbClr val="000000"/>
                </a:solidFill>
              </a:rPr>
              <a:t>Show the system as accessible</a:t>
            </a:r>
            <a:endParaRPr lang="en-US" dirty="0"/>
          </a:p>
          <a:p>
            <a:pPr indent="0" marL="0">
              <a:buNone/>
            </a:pPr>
            <a:r>
              <a:rPr lang="en-US" dirty="0">
                <a:solidFill>
                  <a:srgbClr val="000000"/>
                </a:solidFill>
              </a:rPr>
              <a:t>Show the user some sense of why choose to invest time working with the system (e.g., this will be faster/easier to update/more stable/more extensible/etc.)</a:t>
            </a:r>
            <a:endParaRPr lang="en-US" dirty="0"/>
          </a:p>
          <a:p>
            <a:pPr indent="0" marL="0">
              <a:buNone/>
            </a:pPr>
            <a:r>
              <a:rPr lang="en-US" dirty="0">
                <a:solidFill>
                  <a:srgbClr val="000000"/>
                </a:solidFill>
              </a:rPr>
              <a:t>Built trust through one of a variety of ways:</a:t>
            </a:r>
            <a:endParaRPr lang="en-US" dirty="0"/>
          </a:p>
          <a:p>
            <a:pPr indent="0" marL="0">
              <a:buNone/>
            </a:pPr>
            <a:r>
              <a:rPr lang="en-US" dirty="0">
                <a:solidFill>
                  <a:srgbClr val="000000"/>
                </a:solidFill>
              </a:rPr>
              <a:t>Show consistent value being added to the user </a:t>
            </a:r>
            <a:endParaRPr lang="en-US" dirty="0"/>
          </a:p>
          <a:p>
            <a:pPr indent="0" marL="0">
              <a:buNone/>
            </a:pPr>
            <a:r>
              <a:rPr lang="en-US" dirty="0">
                <a:solidFill>
                  <a:srgbClr val="000000"/>
                </a:solidFill>
              </a:rPr>
              <a:t>Let the user feel they have created / found / can show something of value for the time invested </a:t>
            </a:r>
            <a:endParaRPr lang="en-US" dirty="0"/>
          </a:p>
          <a:p>
            <a:pPr indent="0" marL="0">
              <a:buNone/>
            </a:pPr>
            <a:r>
              <a:rPr lang="en-US" dirty="0">
                <a:solidFill>
                  <a:srgbClr val="000000"/>
                </a:solidFill>
              </a:rPr>
              <a:t>Avoid damaging trust</a:t>
            </a:r>
            <a:endParaRPr lang="en-US" dirty="0"/>
          </a:p>
          <a:p>
            <a:pPr indent="0" marL="0">
              <a:buNone/>
            </a:pPr>
            <a:r>
              <a:rPr lang="en-US" dirty="0">
                <a:solidFill>
                  <a:srgbClr val="000000"/>
                </a:solidFill>
              </a:rPr>
              <a:t>Losing information / context the user has shared</a:t>
            </a:r>
            <a:endParaRPr lang="en-US" dirty="0"/>
          </a:p>
          <a:p>
            <a:pPr indent="0" marL="0">
              <a:buNone/>
            </a:pPr>
            <a:r>
              <a:rPr lang="en-US" dirty="0">
                <a:solidFill>
                  <a:srgbClr val="000000"/>
                </a:solidFill>
              </a:rPr>
              <a:t>Doing something that seems illogical </a:t>
            </a:r>
            <a:endParaRPr lang="en-US" dirty="0"/>
          </a:p>
          <a:p>
            <a:pPr indent="0" marL="0">
              <a:buNone/>
            </a:pPr>
            <a:r>
              <a:rPr lang="en-US" dirty="0">
                <a:solidFill>
                  <a:srgbClr val="000000"/>
                </a:solidFill>
              </a:rPr>
              <a:t>“wasting” the users time</a:t>
            </a: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09600" y="3948112"/>
            <a:ext cx="3381375" cy="585788"/>
          </a:xfrm>
          <a:prstGeom prst="rect">
            <a:avLst/>
          </a:prstGeom>
          <a:noFill/>
          <a:ln/>
        </p:spPr>
        <p:txBody>
          <a:bodyPr wrap="square" lIns="0" tIns="0" rIns="0" bIns="0" rtlCol="0" anchor="b"/>
          <a:lstStyle/>
          <a:p>
            <a:pPr algn="l" indent="0" marL="0">
              <a:lnSpc>
                <a:spcPts val="1453"/>
              </a:lnSpc>
              <a:buNone/>
            </a:pPr>
            <a:r>
              <a:rPr lang="en-US" sz="1069" spc="-11" kern="0" dirty="0">
                <a:solidFill>
                  <a:srgbClr val="000000">
                    <a:alpha val="99000"/>
                  </a:srgbClr>
                </a:solidFill>
                <a:latin typeface="Inter" pitchFamily="34" charset="0"/>
                <a:ea typeface="Inter" pitchFamily="34" charset="-122"/>
                <a:cs typeface="Inter" pitchFamily="34" charset="-120"/>
              </a:rPr>
              <a:t>And on a larger scale, AI products are blurring the line between creation and generation, and we want to embrace that ethos. </a:t>
            </a:r>
            <a:endParaRPr lang="en-US" sz="1069" dirty="0"/>
          </a:p>
        </p:txBody>
      </p:sp>
      <p:sp>
        <p:nvSpPr>
          <p:cNvPr id="3" name="Text 1"/>
          <p:cNvSpPr/>
          <p:nvPr/>
        </p:nvSpPr>
        <p:spPr>
          <a:xfrm>
            <a:off x="442913" y="609600"/>
            <a:ext cx="3381375" cy="228600"/>
          </a:xfrm>
          <a:prstGeom prst="rect">
            <a:avLst/>
          </a:prstGeom>
          <a:noFill/>
          <a:ln/>
        </p:spPr>
        <p:txBody>
          <a:bodyPr wrap="square" lIns="0" tIns="0" rIns="0" bIns="0" rtlCol="0" anchor="b"/>
          <a:lstStyle/>
          <a:p>
            <a:pPr algn="l" indent="0" marL="0">
              <a:lnSpc>
                <a:spcPts val="1693"/>
              </a:lnSpc>
              <a:buNone/>
            </a:pPr>
            <a:r>
              <a:rPr lang="en-US" sz="1283" b="1" spc="-26" kern="0" dirty="0">
                <a:solidFill>
                  <a:srgbClr val="000000">
                    <a:alpha val="99000"/>
                  </a:srgbClr>
                </a:solidFill>
                <a:latin typeface="Inter" pitchFamily="34" charset="0"/>
                <a:ea typeface="Inter" pitchFamily="34" charset="-122"/>
                <a:cs typeface="Inter" pitchFamily="34" charset="-120"/>
              </a:rPr>
              <a:t>7: Remixing is the new creating</a:t>
            </a:r>
            <a:endParaRPr lang="en-US" sz="1283" dirty="0"/>
          </a:p>
        </p:txBody>
      </p:sp>
      <p:sp>
        <p:nvSpPr>
          <p:cNvPr id="4" name="Text 2"/>
          <p:cNvSpPr/>
          <p:nvPr/>
        </p:nvSpPr>
        <p:spPr>
          <a:xfrm>
            <a:off x="609600" y="952500"/>
            <a:ext cx="3381375" cy="1371600"/>
          </a:xfrm>
          <a:prstGeom prst="rect">
            <a:avLst/>
          </a:prstGeom>
          <a:noFill/>
          <a:ln/>
        </p:spPr>
        <p:txBody>
          <a:bodyPr wrap="square" lIns="0" tIns="0" rIns="0" bIns="0" rtlCol="0" anchor="t"/>
          <a:lstStyle/>
          <a:p>
            <a:pPr algn="l" indent="0" marL="0">
              <a:lnSpc>
                <a:spcPts val="2565"/>
              </a:lnSpc>
              <a:buNone/>
            </a:pPr>
            <a:r>
              <a:rPr lang="en-US" sz="2138" b="1" spc="-47" kern="0" dirty="0">
                <a:solidFill>
                  <a:srgbClr val="000000">
                    <a:alpha val="99000"/>
                  </a:srgbClr>
                </a:solidFill>
                <a:latin typeface="Inter" pitchFamily="34" charset="0"/>
                <a:ea typeface="Inter" pitchFamily="34" charset="-122"/>
                <a:cs typeface="Inter" pitchFamily="34" charset="-120"/>
              </a:rPr>
              <a:t>Most new things are adapted from existing solutions in today’s world. </a:t>
            </a:r>
            <a:endParaRPr lang="en-US" sz="2138" dirty="0"/>
          </a:p>
        </p:txBody>
      </p:sp>
      <p:sp>
        <p:nvSpPr>
          <p:cNvPr id="5" name="Text 3"/>
          <p:cNvSpPr/>
          <p:nvPr/>
        </p:nvSpPr>
        <p:spPr>
          <a:xfrm>
            <a:off x="4848225" y="995363"/>
            <a:ext cx="3686175" cy="2438400"/>
          </a:xfrm>
          <a:prstGeom prst="rect">
            <a:avLst/>
          </a:prstGeom>
          <a:noFill/>
          <a:ln/>
        </p:spPr>
        <p:txBody>
          <a:bodyPr wrap="square" lIns="0" tIns="0" rIns="0" bIns="0" rtlCol="0" anchor="b"/>
          <a:lstStyle/>
          <a:p>
            <a:pPr algn="l" indent="0" marL="0">
              <a:lnSpc>
                <a:spcPts val="1146"/>
              </a:lnSpc>
              <a:buNone/>
            </a:pPr>
            <a:r>
              <a:rPr lang="en-US" sz="855" b="1" spc="-4" kern="0" dirty="0">
                <a:solidFill>
                  <a:srgbClr val="000000">
                    <a:alpha val="99000"/>
                  </a:srgbClr>
                </a:solidFill>
                <a:latin typeface="Inter" pitchFamily="34" charset="0"/>
                <a:ea typeface="Inter" pitchFamily="34" charset="-122"/>
                <a:cs typeface="Inter" pitchFamily="34" charset="-120"/>
              </a:rPr>
              <a:t>Note: it will be hard to test the execution versus the theory in this iteration. </a:t>
            </a:r>
            <a:endParaRPr lang="en-US" sz="855" dirty="0"/>
          </a:p>
          <a:p>
            <a:pPr algn="l" indent="0" marL="0">
              <a:lnSpc>
                <a:spcPts val="1146"/>
              </a:lnSpc>
              <a:buNone/>
            </a:pPr>
            <a:r>
              <a:rPr lang="en-US" sz="855" b="1" spc="-4" kern="0" dirty="0">
                <a:solidFill>
                  <a:srgbClr val="000000">
                    <a:alpha val="99000"/>
                  </a:srgbClr>
                </a:solidFill>
                <a:latin typeface="Inter" pitchFamily="34" charset="0"/>
                <a:ea typeface="Inter" pitchFamily="34" charset="-122"/>
                <a:cs typeface="Inter" pitchFamily="34" charset="-120"/>
              </a:rPr>
              <a:t>biases in the data:</a:t>
            </a:r>
            <a:endParaRPr lang="en-US" sz="855" dirty="0"/>
          </a:p>
          <a:p>
            <a:pPr algn="l" marL="342900" indent="-342900">
              <a:lnSpc>
                <a:spcPts val="1146"/>
              </a:lnSpc>
              <a:buSzPct val="100000"/>
              <a:buChar char="•"/>
            </a:pPr>
            <a:r>
              <a:rPr lang="en-US" sz="855" b="1" spc="-4" kern="0" dirty="0">
                <a:solidFill>
                  <a:srgbClr val="000000">
                    <a:alpha val="99000"/>
                  </a:srgbClr>
                </a:solidFill>
                <a:latin typeface="Inter" pitchFamily="34" charset="0"/>
                <a:ea typeface="Inter" pitchFamily="34" charset="-122"/>
                <a:cs typeface="Inter" pitchFamily="34" charset="-120"/>
              </a:rPr>
              <a:t>default options</a:t>
            </a:r>
            <a:endParaRPr lang="en-US" sz="855" dirty="0"/>
          </a:p>
          <a:p>
            <a:pPr algn="l" marL="342900" indent="-342900">
              <a:lnSpc>
                <a:spcPts val="1146"/>
              </a:lnSpc>
              <a:buSzPct val="100000"/>
              <a:buChar char="•"/>
            </a:pPr>
            <a:r>
              <a:rPr lang="en-US" sz="855" b="1" spc="-4" kern="0" dirty="0">
                <a:solidFill>
                  <a:srgbClr val="000000">
                    <a:alpha val="99000"/>
                  </a:srgbClr>
                </a:solidFill>
                <a:latin typeface="Inter" pitchFamily="34" charset="0"/>
                <a:ea typeface="Inter" pitchFamily="34" charset="-122"/>
                <a:cs typeface="Inter" pitchFamily="34" charset="-120"/>
              </a:rPr>
              <a:t>button word choice</a:t>
            </a:r>
            <a:endParaRPr lang="en-US" sz="855" dirty="0"/>
          </a:p>
          <a:p>
            <a:pPr algn="l" marL="342900" indent="-342900">
              <a:lnSpc>
                <a:spcPts val="1146"/>
              </a:lnSpc>
              <a:buSzPct val="100000"/>
              <a:buChar char="•"/>
            </a:pPr>
            <a:r>
              <a:rPr lang="en-US" sz="855" b="1" spc="-4" kern="0" dirty="0">
                <a:solidFill>
                  <a:srgbClr val="000000">
                    <a:alpha val="99000"/>
                  </a:srgbClr>
                </a:solidFill>
                <a:latin typeface="Inter" pitchFamily="34" charset="0"/>
                <a:ea typeface="Inter" pitchFamily="34" charset="-122"/>
                <a:cs typeface="Inter" pitchFamily="34" charset="-120"/>
              </a:rPr>
              <a:t>segmentation in audience (e.g., power users vs casual)</a:t>
            </a:r>
            <a:endParaRPr lang="en-US" sz="855" dirty="0"/>
          </a:p>
          <a:p>
            <a:pPr algn="l" indent="0" marL="0">
              <a:lnSpc>
                <a:spcPts val="1146"/>
              </a:lnSpc>
              <a:buNone/>
            </a:pPr>
            <a:r>
              <a:rPr lang="en-US" sz="855" b="1" spc="-4" kern="0" dirty="0">
                <a:solidFill>
                  <a:srgbClr val="000000">
                    <a:alpha val="99000"/>
                  </a:srgbClr>
                </a:solidFill>
                <a:latin typeface="Inter" pitchFamily="34" charset="0"/>
                <a:ea typeface="Inter" pitchFamily="34" charset="-122"/>
                <a:cs typeface="Inter" pitchFamily="34" charset="-120"/>
              </a:rPr>
              <a:t>Things to pay attention to:</a:t>
            </a:r>
            <a:endParaRPr lang="en-US" sz="855" dirty="0"/>
          </a:p>
          <a:p>
            <a:pPr algn="l" marL="342900" indent="-342900">
              <a:lnSpc>
                <a:spcPts val="1146"/>
              </a:lnSpc>
              <a:buSzPct val="100000"/>
              <a:buChar char="•"/>
            </a:pPr>
            <a:r>
              <a:rPr lang="en-US" sz="855" b="1" spc="-4" kern="0" dirty="0">
                <a:solidFill>
                  <a:srgbClr val="000000">
                    <a:alpha val="99000"/>
                  </a:srgbClr>
                </a:solidFill>
                <a:latin typeface="Inter" pitchFamily="34" charset="0"/>
                <a:ea typeface="Inter" pitchFamily="34" charset="-122"/>
                <a:cs typeface="Inter" pitchFamily="34" charset="-120"/>
              </a:rPr>
              <a:t>in what contexts are users using remix versus creating from new prompts (e.g., first visit vs 10th visit, first creation vs. 10th creation, repeated creations in same visit)</a:t>
            </a:r>
            <a:endParaRPr lang="en-US" sz="855" dirty="0"/>
          </a:p>
          <a:p>
            <a:pPr algn="l" marL="342900" indent="-342900">
              <a:lnSpc>
                <a:spcPts val="1146"/>
              </a:lnSpc>
              <a:buSzPct val="100000"/>
              <a:buChar char="•"/>
            </a:pPr>
            <a:r>
              <a:rPr lang="en-US" sz="855" b="1" spc="-4" kern="0" dirty="0">
                <a:solidFill>
                  <a:srgbClr val="000000">
                    <a:alpha val="99000"/>
                  </a:srgbClr>
                </a:solidFill>
                <a:latin typeface="Inter" pitchFamily="34" charset="0"/>
                <a:ea typeface="Inter" pitchFamily="34" charset="-122"/>
                <a:cs typeface="Inter" pitchFamily="34" charset="-120"/>
              </a:rPr>
              <a:t>when do they remix from their own prompts</a:t>
            </a:r>
            <a:endParaRPr lang="en-US" sz="855" dirty="0"/>
          </a:p>
          <a:p>
            <a:pPr algn="l" lvl="1" marL="685800" indent="-342900">
              <a:lnSpc>
                <a:spcPts val="1146"/>
              </a:lnSpc>
              <a:buSzPct val="100000"/>
              <a:buChar char="•"/>
            </a:pPr>
            <a:r>
              <a:rPr lang="en-US" sz="855" b="1" spc="-4" kern="0" dirty="0">
                <a:solidFill>
                  <a:srgbClr val="000000">
                    <a:alpha val="99000"/>
                  </a:srgbClr>
                </a:solidFill>
                <a:latin typeface="Inter" pitchFamily="34" charset="0"/>
                <a:ea typeface="Inter" pitchFamily="34" charset="-122"/>
                <a:cs typeface="Inter" pitchFamily="34" charset="-120"/>
              </a:rPr>
              <a:t>this may give us some signal on  how much people are using as a repository for their own thinking </a:t>
            </a:r>
            <a:endParaRPr lang="en-US" sz="855" dirty="0"/>
          </a:p>
          <a:p>
            <a:pPr algn="l" marL="342900" indent="-342900">
              <a:lnSpc>
                <a:spcPts val="1146"/>
              </a:lnSpc>
              <a:buSzPct val="100000"/>
              <a:buChar char="•"/>
            </a:pPr>
            <a:r>
              <a:rPr lang="en-US" sz="855" b="1" spc="-4" kern="0" dirty="0">
                <a:solidFill>
                  <a:srgbClr val="000000">
                    <a:alpha val="99000"/>
                  </a:srgbClr>
                </a:solidFill>
                <a:latin typeface="Inter" pitchFamily="34" charset="0"/>
                <a:ea typeface="Inter" pitchFamily="34" charset="-122"/>
                <a:cs typeface="Inter" pitchFamily="34" charset="-120"/>
              </a:rPr>
              <a:t>what is success rates (function used, no drop-off) when remix’d prompt versus created prompt</a:t>
            </a:r>
            <a:endParaRPr lang="en-US" sz="85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09600" y="4143375"/>
            <a:ext cx="3381375" cy="390525"/>
          </a:xfrm>
          <a:prstGeom prst="rect">
            <a:avLst/>
          </a:prstGeom>
          <a:noFill/>
          <a:ln/>
        </p:spPr>
        <p:txBody>
          <a:bodyPr wrap="square" lIns="0" tIns="0" rIns="0" bIns="0" rtlCol="0" anchor="b"/>
          <a:lstStyle/>
          <a:p>
            <a:pPr algn="l" indent="0" marL="0">
              <a:lnSpc>
                <a:spcPts val="1453"/>
              </a:lnSpc>
              <a:buNone/>
            </a:pPr>
            <a:r>
              <a:rPr lang="en-US" sz="1069" spc="-11" kern="0" dirty="0">
                <a:solidFill>
                  <a:srgbClr val="000000">
                    <a:alpha val="99000"/>
                  </a:srgbClr>
                </a:solidFill>
                <a:latin typeface="Inter" pitchFamily="34" charset="0"/>
                <a:ea typeface="Inter" pitchFamily="34" charset="-122"/>
                <a:cs typeface="Inter" pitchFamily="34" charset="-120"/>
              </a:rPr>
              <a:t>When possible, we try to avoid making the user have to make implementation decisions </a:t>
            </a:r>
            <a:endParaRPr lang="en-US" sz="1069" dirty="0"/>
          </a:p>
        </p:txBody>
      </p:sp>
      <p:sp>
        <p:nvSpPr>
          <p:cNvPr id="3" name="Text 1"/>
          <p:cNvSpPr/>
          <p:nvPr/>
        </p:nvSpPr>
        <p:spPr>
          <a:xfrm>
            <a:off x="390525" y="609600"/>
            <a:ext cx="3381375" cy="228600"/>
          </a:xfrm>
          <a:prstGeom prst="rect">
            <a:avLst/>
          </a:prstGeom>
          <a:noFill/>
          <a:ln/>
        </p:spPr>
        <p:txBody>
          <a:bodyPr wrap="square" lIns="0" tIns="0" rIns="0" bIns="0" rtlCol="0" anchor="b"/>
          <a:lstStyle/>
          <a:p>
            <a:pPr algn="l" indent="0" marL="0">
              <a:lnSpc>
                <a:spcPts val="1693"/>
              </a:lnSpc>
              <a:buNone/>
            </a:pPr>
            <a:r>
              <a:rPr lang="en-US" sz="1283" b="1" spc="-26" kern="0" dirty="0">
                <a:solidFill>
                  <a:srgbClr val="000000">
                    <a:alpha val="99000"/>
                  </a:srgbClr>
                </a:solidFill>
                <a:latin typeface="Inter" pitchFamily="34" charset="0"/>
                <a:ea typeface="Inter" pitchFamily="34" charset="-122"/>
                <a:cs typeface="Inter" pitchFamily="34" charset="-120"/>
              </a:rPr>
              <a:t>8 : Users want it done</a:t>
            </a:r>
            <a:endParaRPr lang="en-US" sz="1283" dirty="0"/>
          </a:p>
        </p:txBody>
      </p:sp>
      <p:sp>
        <p:nvSpPr>
          <p:cNvPr id="4" name="Text 2"/>
          <p:cNvSpPr/>
          <p:nvPr/>
        </p:nvSpPr>
        <p:spPr>
          <a:xfrm>
            <a:off x="609600" y="952500"/>
            <a:ext cx="3381375" cy="1714500"/>
          </a:xfrm>
          <a:prstGeom prst="rect">
            <a:avLst/>
          </a:prstGeom>
          <a:noFill/>
          <a:ln/>
        </p:spPr>
        <p:txBody>
          <a:bodyPr wrap="square" lIns="0" tIns="0" rIns="0" bIns="0" rtlCol="0" anchor="t"/>
          <a:lstStyle/>
          <a:p>
            <a:pPr algn="l" indent="0" marL="0">
              <a:lnSpc>
                <a:spcPts val="2565"/>
              </a:lnSpc>
              <a:buNone/>
            </a:pPr>
            <a:r>
              <a:rPr lang="en-US" sz="2138" b="1" spc="-47" kern="0" dirty="0">
                <a:solidFill>
                  <a:srgbClr val="000000">
                    <a:alpha val="99000"/>
                  </a:srgbClr>
                </a:solidFill>
                <a:latin typeface="Inter" pitchFamily="34" charset="0"/>
                <a:ea typeface="Inter" pitchFamily="34" charset="-122"/>
                <a:cs typeface="Inter" pitchFamily="34" charset="-120"/>
              </a:rPr>
              <a:t>Optimize for giving users something they can use, over getting into the details of how its going to be done</a:t>
            </a:r>
            <a:endParaRPr lang="en-US" sz="2138" dirty="0"/>
          </a:p>
        </p:txBody>
      </p:sp>
      <p:sp>
        <p:nvSpPr>
          <p:cNvPr id="5" name="Text 3"/>
          <p:cNvSpPr/>
          <p:nvPr/>
        </p:nvSpPr>
        <p:spPr>
          <a:xfrm>
            <a:off x="4867275" y="785813"/>
            <a:ext cx="3686175" cy="1828800"/>
          </a:xfrm>
          <a:prstGeom prst="rect">
            <a:avLst/>
          </a:prstGeom>
          <a:noFill/>
          <a:ln/>
        </p:spPr>
        <p:txBody>
          <a:bodyPr wrap="square" lIns="0" tIns="0" rIns="0" bIns="0" rtlCol="0" anchor="b"/>
          <a:lstStyle/>
          <a:p>
            <a:pPr algn="l" indent="0" marL="0">
              <a:lnSpc>
                <a:spcPts val="1146"/>
              </a:lnSpc>
              <a:buNone/>
            </a:pPr>
            <a:r>
              <a:rPr lang="en-US" sz="855" b="1" spc="-4" kern="0" dirty="0">
                <a:solidFill>
                  <a:srgbClr val="000000">
                    <a:alpha val="99000"/>
                  </a:srgbClr>
                </a:solidFill>
                <a:latin typeface="Inter" pitchFamily="34" charset="0"/>
                <a:ea typeface="Inter" pitchFamily="34" charset="-122"/>
                <a:cs typeface="Inter" pitchFamily="34" charset="-120"/>
              </a:rPr>
              <a:t>Harder to directly test in this iteration, but we have some areas that can be observed and qualitative inferences can be made</a:t>
            </a:r>
            <a:endParaRPr lang="en-US" sz="855" dirty="0"/>
          </a:p>
          <a:p>
            <a:pPr algn="l" indent="0" marL="0">
              <a:lnSpc>
                <a:spcPts val="1146"/>
              </a:lnSpc>
              <a:buNone/>
            </a:pPr>
            <a:r>
              <a:rPr lang="en-US" sz="855" b="1" spc="-4" kern="0" dirty="0">
                <a:solidFill>
                  <a:srgbClr val="000000">
                    <a:alpha val="99000"/>
                  </a:srgbClr>
                </a:solidFill>
                <a:latin typeface="Inter" pitchFamily="34" charset="0"/>
                <a:ea typeface="Inter" pitchFamily="34" charset="-122"/>
                <a:cs typeface="Inter" pitchFamily="34" charset="-120"/>
              </a:rPr>
              <a:t>Things to pay attention to:</a:t>
            </a:r>
            <a:endParaRPr lang="en-US" sz="855" dirty="0"/>
          </a:p>
          <a:p>
            <a:pPr algn="l" marL="342900" indent="-342900">
              <a:lnSpc>
                <a:spcPts val="1146"/>
              </a:lnSpc>
              <a:buSzPct val="100000"/>
              <a:buChar char="•"/>
            </a:pPr>
            <a:r>
              <a:rPr lang="en-US" sz="855" b="1" spc="-4" kern="0" dirty="0">
                <a:solidFill>
                  <a:srgbClr val="000000">
                    <a:alpha val="99000"/>
                  </a:srgbClr>
                </a:solidFill>
                <a:latin typeface="Inter" pitchFamily="34" charset="0"/>
                <a:ea typeface="Inter" pitchFamily="34" charset="-122"/>
                <a:cs typeface="Inter" pitchFamily="34" charset="-120"/>
              </a:rPr>
              <a:t>are we getting the right things done?</a:t>
            </a:r>
            <a:endParaRPr lang="en-US" sz="855" dirty="0"/>
          </a:p>
          <a:p>
            <a:pPr algn="l" marL="342900" indent="-342900">
              <a:lnSpc>
                <a:spcPts val="1146"/>
              </a:lnSpc>
              <a:buSzPct val="100000"/>
              <a:buChar char="•"/>
            </a:pPr>
            <a:r>
              <a:rPr lang="en-US" sz="855" b="1" spc="-4" kern="0" dirty="0">
                <a:solidFill>
                  <a:srgbClr val="000000">
                    <a:alpha val="99000"/>
                  </a:srgbClr>
                </a:solidFill>
                <a:latin typeface="Inter" pitchFamily="34" charset="0"/>
                <a:ea typeface="Inter" pitchFamily="34" charset="-122"/>
                <a:cs typeface="Inter" pitchFamily="34" charset="-120"/>
              </a:rPr>
              <a:t>are users getting frustrated they can’t intervene when the system gets something wrong?</a:t>
            </a:r>
            <a:endParaRPr lang="en-US" sz="855" dirty="0"/>
          </a:p>
          <a:p>
            <a:pPr algn="l" marL="342900" indent="-342900">
              <a:lnSpc>
                <a:spcPts val="1146"/>
              </a:lnSpc>
              <a:buSzPct val="100000"/>
              <a:buChar char="•"/>
            </a:pPr>
            <a:r>
              <a:rPr lang="en-US" sz="855" b="1" spc="-4" kern="0" dirty="0">
                <a:solidFill>
                  <a:srgbClr val="000000">
                    <a:alpha val="99000"/>
                  </a:srgbClr>
                </a:solidFill>
                <a:latin typeface="Inter" pitchFamily="34" charset="0"/>
                <a:ea typeface="Inter" pitchFamily="34" charset="-122"/>
                <a:cs typeface="Inter" pitchFamily="34" charset="-120"/>
              </a:rPr>
              <a:t>is the function generated usable in the way that it has been created? </a:t>
            </a:r>
            <a:endParaRPr lang="en-US" sz="855" dirty="0"/>
          </a:p>
          <a:p>
            <a:pPr algn="l" marL="342900" indent="-342900">
              <a:lnSpc>
                <a:spcPts val="1146"/>
              </a:lnSpc>
              <a:buSzPct val="100000"/>
              <a:buChar char="•"/>
            </a:pPr>
            <a:r>
              <a:rPr lang="en-US" sz="855" b="1" spc="-4" kern="0" dirty="0">
                <a:solidFill>
                  <a:srgbClr val="000000">
                    <a:alpha val="99000"/>
                  </a:srgbClr>
                </a:solidFill>
                <a:latin typeface="Inter" pitchFamily="34" charset="0"/>
                <a:ea typeface="Inter" pitchFamily="34" charset="-122"/>
                <a:cs typeface="Inter" pitchFamily="34" charset="-120"/>
              </a:rPr>
              <a:t>when we give the users an ability to customize, are they using that? are they looking for more abilities to refine then they are finding?</a:t>
            </a:r>
            <a:endParaRPr lang="en-US" sz="855" dirty="0"/>
          </a:p>
        </p:txBody>
      </p:sp>
      <p:pic>
        <p:nvPicPr>
          <p:cNvPr id="6" name="Image 0" descr="preencoded.png">    </p:cNvPr>
          <p:cNvPicPr>
            <a:picLocks noChangeAspect="1"/>
          </p:cNvPicPr>
          <p:nvPr/>
        </p:nvPicPr>
        <p:blipFill>
          <a:blip r:embed="rId1"/>
          <a:srcRect l="0" r="0" t="0" b="0"/>
          <a:stretch/>
        </p:blipFill>
        <p:spPr>
          <a:xfrm>
            <a:off x="5376863" y="2943225"/>
            <a:ext cx="1238250" cy="1238250"/>
          </a:xfrm>
          <a:prstGeom prst="rect">
            <a:avLst/>
          </a:prstGeom>
        </p:spPr>
      </p:pic>
      <p:pic>
        <p:nvPicPr>
          <p:cNvPr id="7" name="Image 1" descr="preencoded.png">    </p:cNvPr>
          <p:cNvPicPr>
            <a:picLocks noChangeAspect="1"/>
          </p:cNvPicPr>
          <p:nvPr/>
        </p:nvPicPr>
        <p:blipFill>
          <a:blip r:embed="rId2"/>
          <a:srcRect l="0" r="0" t="0" b="0"/>
          <a:stretch/>
        </p:blipFill>
        <p:spPr>
          <a:xfrm>
            <a:off x="6596063" y="2943225"/>
            <a:ext cx="1238250" cy="1238250"/>
          </a:xfrm>
          <a:prstGeom prst="rect">
            <a:avLst/>
          </a:prstGeom>
        </p:spPr>
      </p:pic>
      <p:pic>
        <p:nvPicPr>
          <p:cNvPr id="8" name="Image 2" descr="preencoded.png">    </p:cNvPr>
          <p:cNvPicPr>
            <a:picLocks noChangeAspect="1"/>
          </p:cNvPicPr>
          <p:nvPr/>
        </p:nvPicPr>
        <p:blipFill>
          <a:blip r:embed="rId3"/>
          <a:srcRect l="0" r="0" t="0" b="0"/>
          <a:stretch/>
        </p:blipFill>
        <p:spPr>
          <a:xfrm>
            <a:off x="6138863" y="3814763"/>
            <a:ext cx="1238250" cy="123825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2026-04-30T16:37:58Z</dcterms:created>
  <dcterms:modified xsi:type="dcterms:W3CDTF">2026-04-30T16:37:58Z</dcterms:modified>
</cp:coreProperties>
</file>